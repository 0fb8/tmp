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今日の話を一言でいうと、「社内ネットワークにいるかどうかで信頼を決めず、アクセスのたびに確かめる」という考え方です。前半で背景、後半で構成要素を紹介します。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お城と城壁のイメージです。城壁を固めて、中にいる人は信頼する。多層防御は、入口・内部・出口の3段階に分けて考えることもできます。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働き方とシステムの置き場所が変わって、「内と外」という前提そのものが崩れてきました。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オーロラ作戦は境界型の弱点そのものでした。なお「ゼロトラスト」という言葉自体は、2010 年ごろに Forrester Research のアナリストが提唱したもので、広めたのが Google です。（年は発表前に要確認）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時間があれば話すスライドです。後で出てくる構成要素が、攻撃のどの段階に効くかの予告として使えます。構成要素を説明し終えた後の振り返りに回してもかまいません。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ゼロトラストは「何か1つ入れれば完了」ではなく、組織の状況に合わせて少しずつ近づけていく取り組みです。NIST も、多くの組織ではしばらく境界型とゼロトラストが混ざった形で運用されるという見方を示しています。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7つは読み上げず、最後の3つの方向だけ伝えます。どれも「一度入れたら信頼する」をやめる方向を向いています。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時間があれば話すスライドです。NIST の原則4「その都度ポリシーで判断する」を一番イメージしやすい形です。Entra ID の条件付きアクセスの画面のスクリーンショットがあれば見せると分かりやすいです。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ここから1行ずつ説明していきます。記事を1本ずつ紹介するより、「何を確かめるか」で整理すると全体がつかみやすいです。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ゼロトラストでは社内かどうかで信頼を決めないので、「誰か」と「何をしてよいか」が判断の土台になります。それを一手に担うのが IAM です。リスクベース認証は「状況を見てその都度判断する」というゼロトラストの考え方とよく合います。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のパスワードや多要素認証とは別の、証明書による本人確認の手段です。秘密鍵そのものは送らず、秘密鍵で署名したデータを送るので、通信を盗み見られても使い回されにくい。PKI の補足は下の帯の一文で済ませます。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私物の端末に MDM を入れると、組織が端末全体を見たり消したりできてしまうので、BYOD では MAM を使います。MAM は業務用の領域（コンテナ）を分け、業務用アプリのデータを私用アプリにコピーできないようにします。【オプション】EDR：MDM が「設定が正しいか」を見るのに対し、EDR は「端末上で怪しい動きがないか」を見張り、隔離までします。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BitLocker では、TPM は起動の手順が改ざんされていないことを確かめたときだけ鍵を使わせます。ディスクを別の PC につないでも、その PC の TPM には鍵がないので読めません。最近の PC では、TPM が独立したチップではなく CPU に組み込まれていることも多いです。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IAP は、利用者と社内アプリの間の通信経路に置かれるプロキシで、IAM と連携してアプリごとに通すかどうかを決めます。構成は「利用者 → IAP（クラウド）← コネクタ → 社内アプリ」。コネクタが自分から外へ接続を張っておくので、ファイアウォールから見ると「内から外へ」の通信だけで済みます。【オプション】マイクロセグメンテーション：サーバー同士の通信も細かく分けて、侵入後の横移動を防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SWG は、境界型でいう出口対策（社内のフォワードプロキシ）をクラウドに移したものです。どこにいる社員にも同じポリシーで検査をかけられます。【オプション】CASB：社員が使っているクラウドサービスを見える化し、許可していないサービス（シャドー IT）を見つける。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ファイアウォールやウイルス対策が主に外からの侵入を防ぐのに対し、DLP は出ていくデータを見張ります。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の原則7「集めて改善し続ける」を形にしたものです。検知から対応までを自動にすると、被害が広がる前に止められます。影響の大きい対応では、最後に人が承認する手順を挟むことも多いです。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全体の構成の例です。リモートの社員や私物の端末は、社内ネットワークには入らず、ゼロトラストのクラウドを通ってアクセスします。インターネットや SaaS へは SWG を通り、DLP で機密データの持ち出しも見張ります。社内アプリへは IAP を通ります。社内に置いたコネクタが自分から外の IAP へ接続を張っておくので、外からの受信を許可しなくて済みます。IAP や SWG は、IAM に「誰か」「何をしてよいか」を問い合わせて判断します。端末の状態は MDM や MAM、鍵は TPM で守ります。これらすべてのログを SIEM に集め、異常があれば SOAR が自動で対応します。下の点線が従来の経路で、VPN で社内に入ると社内ネットワーク全体に届いてしまいます。クラウドは1つではなく、ゼロトラストの仕組みを提供するクラウドと、業務で使う一般の SaaS は別のものです。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時間があれば話すスライドです。全体図の各行に対応する追加の仕組みとして紹介します。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時間があれば話すスライドです。どれも本線の内容をまとめ直す話なので、時間が余ったときに向いています。「どこから始めるか」は、「方向性であって完成はない」という話の締めくくりにもなります。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最後に4点を振り返って終わります。質問があれば受け付けます。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0296"/>
            <a:ext cx="10566401" cy="4762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Noto Sans JP" pitchFamily="34" charset="0"/>
                <a:ea typeface="Noto Sans JP" pitchFamily="34" charset="-122"/>
                <a:cs typeface="Noto Sans JP"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71346"/>
            <a:ext cx="10566400" cy="397385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Noto Sans JP" pitchFamily="34" charset="0"/>
                <a:ea typeface="Noto Sans JP" pitchFamily="34" charset="-122"/>
                <a:cs typeface="Noto Sans JP"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0296"/>
            <a:ext cx="10566401" cy="4762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Noto Sans JP" pitchFamily="34" charset="0"/>
                <a:ea typeface="Noto Sans JP" pitchFamily="34" charset="-122"/>
                <a:cs typeface="Noto Sans JP"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71346"/>
            <a:ext cx="10566400" cy="397385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Noto Sans JP" pitchFamily="34" charset="0"/>
                <a:ea typeface="Noto Sans JP" pitchFamily="34" charset="-122"/>
                <a:cs typeface="Noto Sans JP"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slideLayout" Target="../slideLayouts/slideLayout2.xml"/><Relationship Id="rId1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93308"/>
            <a:ext cx="10883393" cy="309846"/>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FB4FF"/>
                </a:solidFill>
                <a:latin typeface="Noto Sans JP" pitchFamily="34" charset="0"/>
                <a:ea typeface="Noto Sans JP" pitchFamily="34" charset="-122"/>
                <a:cs typeface="Noto Sans JP" pitchFamily="34" charset="-120"/>
              </a:rPr>
              <a:t>社内勉強会</a:t>
            </a:r>
            <a:endParaRPr lang="en-US" sz="1600" dirty="0"/>
          </a:p>
        </p:txBody>
      </p:sp>
      <p:sp>
        <p:nvSpPr>
          <p:cNvPr id="3" name="Text 1"/>
          <p:cNvSpPr/>
          <p:nvPr>
            <p:ph type="title"/>
          </p:nvPr>
        </p:nvSpPr>
        <p:spPr>
          <a:xfrm>
            <a:off x="812800" y="2331754"/>
            <a:ext cx="10883393" cy="1610292"/>
          </a:xfrm>
          <a:prstGeom prst="rect">
            <a:avLst/>
          </a:prstGeom>
          <a:noFill/>
          <a:ln/>
        </p:spPr>
        <p:txBody>
          <a:bodyPr wrap="square" lIns="0" tIns="0" rIns="0" bIns="0" rtlCol="0" anchor="t">
            <a:normAutofit/>
          </a:bodyPr>
          <a:lstStyle/>
          <a:p>
            <a:pPr algn="l" indent="0" marL="0">
              <a:lnSpc>
                <a:spcPts val="6240"/>
              </a:lnSpc>
              <a:buNone/>
            </a:pPr>
            <a:r>
              <a:rPr lang="en-US" sz="5200" b="1" i="0" dirty="0">
                <a:solidFill>
                  <a:srgbClr val="F7F6F2"/>
                </a:solidFill>
                <a:latin typeface="Noto Sans JP" pitchFamily="34" charset="0"/>
                <a:ea typeface="Noto Sans JP" pitchFamily="34" charset="-122"/>
                <a:cs typeface="Noto Sans JP" pitchFamily="34" charset="-120"/>
              </a:rPr>
              <a:t>ゼロトラスト</a:t>
            </a:r>
            <a:endParaRPr lang="en-US" sz="5200" dirty="0"/>
          </a:p>
          <a:p>
            <a:pPr algn="l" indent="0" marL="0">
              <a:lnSpc>
                <a:spcPts val="6240"/>
              </a:lnSpc>
              <a:buNone/>
            </a:pPr>
            <a:r>
              <a:rPr lang="en-US" sz="5200" b="1" i="0" dirty="0">
                <a:solidFill>
                  <a:srgbClr val="F7F6F2"/>
                </a:solidFill>
                <a:latin typeface="Noto Sans JP" pitchFamily="34" charset="0"/>
                <a:ea typeface="Noto Sans JP" pitchFamily="34" charset="-122"/>
                <a:cs typeface="Noto Sans JP" pitchFamily="34" charset="-120"/>
              </a:rPr>
              <a:t>セキュリティ入門</a:t>
            </a:r>
            <a:endParaRPr lang="en-US" sz="5200" dirty="0"/>
          </a:p>
        </p:txBody>
      </p:sp>
      <p:sp>
        <p:nvSpPr>
          <p:cNvPr id="4" name="Text 2"/>
          <p:cNvSpPr/>
          <p:nvPr/>
        </p:nvSpPr>
        <p:spPr>
          <a:xfrm>
            <a:off x="812800" y="4170646"/>
            <a:ext cx="10883393" cy="416549"/>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6"/>
                </a:solidFill>
                <a:latin typeface="Noto Sans JP" pitchFamily="34" charset="0"/>
                <a:ea typeface="Noto Sans JP" pitchFamily="34" charset="-122"/>
                <a:cs typeface="Noto Sans JP" pitchFamily="34" charset="-120"/>
              </a:rPr>
              <a:t>「社内だから信頼する」をやめる</a:t>
            </a:r>
            <a:endParaRPr lang="en-US" sz="2200" dirty="0"/>
          </a:p>
        </p:txBody>
      </p:sp>
      <p:sp>
        <p:nvSpPr>
          <p:cNvPr id="5" name="Text 3"/>
          <p:cNvSpPr/>
          <p:nvPr/>
        </p:nvSpPr>
        <p:spPr>
          <a:xfrm>
            <a:off x="812800" y="4815795"/>
            <a:ext cx="1088339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Noto Sans JP" pitchFamily="34" charset="0"/>
                <a:ea typeface="Noto Sans JP" pitchFamily="34" charset="-122"/>
                <a:cs typeface="Noto Sans JP" pitchFamily="34" charset="-120"/>
              </a:rPr>
              <a:t>このテーマを選んだ理由：[ここに一言]</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背景</a:t>
            </a:r>
            <a:endParaRPr lang="en-US" sz="1400" dirty="0"/>
          </a:p>
        </p:txBody>
      </p:sp>
      <p:sp>
        <p:nvSpPr>
          <p:cNvPr id="3" name="Text 1"/>
          <p:cNvSpPr/>
          <p:nvPr>
            <p:ph type="title"/>
          </p:nvPr>
        </p:nvSpPr>
        <p:spPr>
          <a:xfrm>
            <a:off x="812800" y="1315698"/>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従来の考え方：境界型セキュリティ</a:t>
            </a:r>
            <a:endParaRPr lang="en-US" sz="3000" dirty="0"/>
          </a:p>
        </p:txBody>
      </p:sp>
      <p:sp>
        <p:nvSpPr>
          <p:cNvPr id="4" name="Text 2"/>
          <p:cNvSpPr/>
          <p:nvPr/>
        </p:nvSpPr>
        <p:spPr>
          <a:xfrm>
            <a:off x="844296" y="2045948"/>
            <a:ext cx="5193284" cy="1680029"/>
          </a:xfrm>
          <a:prstGeom prst="rect">
            <a:avLst/>
          </a:prstGeom>
          <a:noFill/>
          <a:ln/>
        </p:spPr>
        <p:txBody>
          <a:bodyPr wrap="square" lIns="0" tIns="0" rIns="0" bIns="0" rtlCol="0" anchor="t">
            <a:normAutofit/>
          </a:bodyPr>
          <a:lstStyle/>
          <a:p>
            <a:pPr algn="l" marL="222504" indent="-222504">
              <a:lnSpc>
                <a:spcPts val="2720"/>
              </a:lnSpc>
              <a:buSzPct val="100000"/>
              <a:buChar char="•"/>
            </a:pPr>
            <a:r>
              <a:rPr lang="en-US" sz="1700" dirty="0">
                <a:solidFill>
                  <a:srgbClr val="3D4A5C"/>
                </a:solidFill>
                <a:latin typeface="Noto Sans JP" pitchFamily="34" charset="0"/>
                <a:ea typeface="Noto Sans JP" pitchFamily="34" charset="-122"/>
                <a:cs typeface="Noto Sans JP" pitchFamily="34" charset="-120"/>
              </a:rPr>
              <a:t>ネットワークを「社内（内側）」と「社外（外側）」に分ける</a:t>
            </a:r>
            <a:endParaRPr lang="en-US" sz="1700" dirty="0"/>
          </a:p>
          <a:p>
            <a:pPr algn="l" marL="222504" indent="-222504">
              <a:lnSpc>
                <a:spcPts val="2720"/>
              </a:lnSpc>
              <a:buSzPct val="100000"/>
              <a:buChar char="•"/>
            </a:pPr>
            <a:r>
              <a:rPr lang="en-US" sz="1700" dirty="0">
                <a:solidFill>
                  <a:srgbClr val="3D4A5C"/>
                </a:solidFill>
                <a:latin typeface="Noto Sans JP" pitchFamily="34" charset="0"/>
                <a:ea typeface="Noto Sans JP" pitchFamily="34" charset="-122"/>
                <a:cs typeface="Noto Sans JP" pitchFamily="34" charset="-120"/>
              </a:rPr>
              <a:t>外側は警戒し、内側は信頼する</a:t>
            </a:r>
            <a:endParaRPr lang="en-US" sz="1700" dirty="0"/>
          </a:p>
          <a:p>
            <a:pPr algn="l" marL="222504" indent="-222504">
              <a:lnSpc>
                <a:spcPts val="2720"/>
              </a:lnSpc>
              <a:buSzPct val="100000"/>
              <a:buChar char="•"/>
            </a:pPr>
            <a:r>
              <a:rPr lang="en-US" sz="1700" dirty="0">
                <a:solidFill>
                  <a:srgbClr val="3D4A5C"/>
                </a:solidFill>
                <a:latin typeface="Noto Sans JP" pitchFamily="34" charset="0"/>
                <a:ea typeface="Noto Sans JP" pitchFamily="34" charset="-122"/>
                <a:cs typeface="Noto Sans JP" pitchFamily="34" charset="-120"/>
              </a:rPr>
              <a:t>対策は境目に集中させ、多層防御で重ねる</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10086" y="2056834"/>
          <a:ext cx="5069115" cy="1643743"/>
        </p:xfrm>
        <a:graphic>
          <a:graphicData uri="http://schemas.openxmlformats.org/drawingml/2006/table">
            <a:tbl>
              <a:tblPr/>
              <a:tblGrid>
                <a:gridCol w="1520734"/>
                <a:gridCol w="3548380"/>
              </a:tblGrid>
              <a:tr h="410936">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段階</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対策の例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入口</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ファイアウォール、IDS/IPS</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内部</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ログの記録と監視、権限の管理</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出口</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ファイアウォール、プロキシ</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背景</a:t>
            </a:r>
            <a:endParaRPr lang="en-US" sz="1400" dirty="0"/>
          </a:p>
        </p:txBody>
      </p:sp>
      <p:sp>
        <p:nvSpPr>
          <p:cNvPr id="3" name="Text 1"/>
          <p:cNvSpPr/>
          <p:nvPr>
            <p:ph type="title"/>
          </p:nvPr>
        </p:nvSpPr>
        <p:spPr>
          <a:xfrm>
            <a:off x="812800" y="1315698"/>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境界型の限界</a:t>
            </a:r>
            <a:endParaRPr lang="en-US" sz="3000" dirty="0"/>
          </a:p>
        </p:txBody>
      </p:sp>
      <p:sp>
        <p:nvSpPr>
          <p:cNvPr id="4" name="Shape 2"/>
          <p:cNvSpPr/>
          <p:nvPr/>
        </p:nvSpPr>
        <p:spPr>
          <a:xfrm>
            <a:off x="815975" y="2049123"/>
            <a:ext cx="3380298" cy="1824605"/>
          </a:xfrm>
          <a:prstGeom prst="roundRect">
            <a:avLst>
              <a:gd name="adj" fmla="val 5394"/>
            </a:avLst>
          </a:prstGeom>
          <a:solidFill>
            <a:srgbClr val="FFFFFF"/>
          </a:solidFill>
          <a:ln w="6350">
            <a:solidFill>
              <a:srgbClr val="D9DEE7"/>
            </a:solidFill>
            <a:prstDash val="solid"/>
          </a:ln>
        </p:spPr>
      </p:sp>
      <p:sp>
        <p:nvSpPr>
          <p:cNvPr id="5" name="Text 3"/>
          <p:cNvSpPr/>
          <p:nvPr/>
        </p:nvSpPr>
        <p:spPr>
          <a:xfrm>
            <a:off x="1070429" y="2303577"/>
            <a:ext cx="295753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入られたら一気に崩れる</a:t>
            </a:r>
            <a:endParaRPr lang="en-US" sz="1800" dirty="0"/>
          </a:p>
        </p:txBody>
      </p:sp>
      <p:sp>
        <p:nvSpPr>
          <p:cNvPr id="6" name="Text 4"/>
          <p:cNvSpPr/>
          <p:nvPr/>
        </p:nvSpPr>
        <p:spPr>
          <a:xfrm>
            <a:off x="1070429" y="2704874"/>
            <a:ext cx="2957533"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3D4A5C"/>
                </a:solidFill>
                <a:latin typeface="Noto Sans JP" pitchFamily="34" charset="0"/>
                <a:ea typeface="Noto Sans JP" pitchFamily="34" charset="-122"/>
                <a:cs typeface="Noto Sans JP" pitchFamily="34" charset="-120"/>
              </a:rPr>
              <a:t>内側を信頼する前提なので、端末が1台乗っ取られると、そこから広く被害が及ぶ</a:t>
            </a:r>
            <a:endParaRPr lang="en-US" sz="1500" dirty="0"/>
          </a:p>
        </p:txBody>
      </p:sp>
      <p:sp>
        <p:nvSpPr>
          <p:cNvPr id="7" name="Shape 5"/>
          <p:cNvSpPr/>
          <p:nvPr/>
        </p:nvSpPr>
        <p:spPr>
          <a:xfrm>
            <a:off x="4405823" y="2049123"/>
            <a:ext cx="3380355" cy="1824605"/>
          </a:xfrm>
          <a:prstGeom prst="roundRect">
            <a:avLst>
              <a:gd name="adj" fmla="val 5394"/>
            </a:avLst>
          </a:prstGeom>
          <a:solidFill>
            <a:srgbClr val="FFFFFF"/>
          </a:solidFill>
          <a:ln w="6350">
            <a:solidFill>
              <a:srgbClr val="D9DEE7"/>
            </a:solidFill>
            <a:prstDash val="solid"/>
          </a:ln>
        </p:spPr>
      </p:sp>
      <p:sp>
        <p:nvSpPr>
          <p:cNvPr id="8" name="Text 6"/>
          <p:cNvSpPr/>
          <p:nvPr/>
        </p:nvSpPr>
        <p:spPr>
          <a:xfrm>
            <a:off x="4660276" y="2303577"/>
            <a:ext cx="2957591"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境目がボトルネックになる</a:t>
            </a:r>
            <a:endParaRPr lang="en-US" sz="1800" dirty="0"/>
          </a:p>
        </p:txBody>
      </p:sp>
      <p:sp>
        <p:nvSpPr>
          <p:cNvPr id="9" name="Text 7"/>
          <p:cNvSpPr/>
          <p:nvPr/>
        </p:nvSpPr>
        <p:spPr>
          <a:xfrm>
            <a:off x="4660276" y="2704874"/>
            <a:ext cx="2957591"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3D4A5C"/>
                </a:solidFill>
                <a:latin typeface="Noto Sans JP" pitchFamily="34" charset="0"/>
                <a:ea typeface="Noto Sans JP" pitchFamily="34" charset="-122"/>
                <a:cs typeface="Noto Sans JP" pitchFamily="34" charset="-120"/>
              </a:rPr>
              <a:t>リモートの社員も、VPN で社内に入ってからプロキシを通って外に出る</a:t>
            </a:r>
            <a:endParaRPr lang="en-US" sz="1500" dirty="0"/>
          </a:p>
        </p:txBody>
      </p:sp>
      <p:sp>
        <p:nvSpPr>
          <p:cNvPr id="10" name="Shape 8"/>
          <p:cNvSpPr/>
          <p:nvPr/>
        </p:nvSpPr>
        <p:spPr>
          <a:xfrm>
            <a:off x="7995727" y="2049123"/>
            <a:ext cx="3380298" cy="1824605"/>
          </a:xfrm>
          <a:prstGeom prst="roundRect">
            <a:avLst>
              <a:gd name="adj" fmla="val 5394"/>
            </a:avLst>
          </a:prstGeom>
          <a:solidFill>
            <a:srgbClr val="FFFFFF"/>
          </a:solidFill>
          <a:ln w="6350">
            <a:solidFill>
              <a:srgbClr val="D9DEE7"/>
            </a:solidFill>
            <a:prstDash val="solid"/>
          </a:ln>
        </p:spPr>
      </p:sp>
      <p:sp>
        <p:nvSpPr>
          <p:cNvPr id="11" name="Text 9"/>
          <p:cNvSpPr/>
          <p:nvPr/>
        </p:nvSpPr>
        <p:spPr>
          <a:xfrm>
            <a:off x="8250181" y="2303577"/>
            <a:ext cx="295753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守るものが境目の外にある</a:t>
            </a:r>
            <a:endParaRPr lang="en-US" sz="1800" dirty="0"/>
          </a:p>
        </p:txBody>
      </p:sp>
      <p:sp>
        <p:nvSpPr>
          <p:cNvPr id="12" name="Text 10"/>
          <p:cNvSpPr/>
          <p:nvPr/>
        </p:nvSpPr>
        <p:spPr>
          <a:xfrm>
            <a:off x="8250181" y="2704874"/>
            <a:ext cx="295753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3D4A5C"/>
                </a:solidFill>
                <a:latin typeface="Noto Sans JP" pitchFamily="34" charset="0"/>
                <a:ea typeface="Noto Sans JP" pitchFamily="34" charset="-122"/>
                <a:cs typeface="Noto Sans JP" pitchFamily="34" charset="-120"/>
              </a:rPr>
              <a:t>クラウドサービスの利用が当たり前になった</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背景</a:t>
            </a:r>
            <a:endParaRPr lang="en-US" sz="1400" dirty="0"/>
          </a:p>
        </p:txBody>
      </p:sp>
      <p:sp>
        <p:nvSpPr>
          <p:cNvPr id="3" name="Text 1"/>
          <p:cNvSpPr/>
          <p:nvPr>
            <p:ph type="title"/>
          </p:nvPr>
        </p:nvSpPr>
        <p:spPr>
          <a:xfrm>
            <a:off x="812800" y="13156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きっかけ：Google の BeyondCorp</a:t>
            </a:r>
            <a:endParaRPr lang="en-US" sz="3000" dirty="0"/>
          </a:p>
        </p:txBody>
      </p:sp>
      <p:sp>
        <p:nvSpPr>
          <p:cNvPr id="4" name="Shape 2"/>
          <p:cNvSpPr/>
          <p:nvPr/>
        </p:nvSpPr>
        <p:spPr>
          <a:xfrm>
            <a:off x="815975" y="2049121"/>
            <a:ext cx="10560051" cy="928007"/>
          </a:xfrm>
          <a:prstGeom prst="roundRect">
            <a:avLst>
              <a:gd name="adj" fmla="val 10606"/>
            </a:avLst>
          </a:prstGeom>
          <a:solidFill>
            <a:srgbClr val="FFFFFF"/>
          </a:solidFill>
          <a:ln w="6350">
            <a:solidFill>
              <a:srgbClr val="D9DEE7"/>
            </a:solidFill>
            <a:prstDash val="solid"/>
          </a:ln>
        </p:spPr>
      </p:sp>
      <p:sp>
        <p:nvSpPr>
          <p:cNvPr id="5" name="Text 3"/>
          <p:cNvSpPr/>
          <p:nvPr/>
        </p:nvSpPr>
        <p:spPr>
          <a:xfrm>
            <a:off x="1070429" y="2317522"/>
            <a:ext cx="791323" cy="41654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457C5"/>
                </a:solidFill>
                <a:latin typeface="Noto Sans JP" pitchFamily="34" charset="0"/>
                <a:ea typeface="Noto Sans JP" pitchFamily="34" charset="-122"/>
                <a:cs typeface="Noto Sans JP" pitchFamily="34" charset="-120"/>
              </a:rPr>
              <a:t>2010</a:t>
            </a:r>
            <a:endParaRPr lang="en-US" sz="2200" dirty="0"/>
          </a:p>
        </p:txBody>
      </p:sp>
      <p:sp>
        <p:nvSpPr>
          <p:cNvPr id="6" name="Text 4"/>
          <p:cNvSpPr/>
          <p:nvPr/>
        </p:nvSpPr>
        <p:spPr>
          <a:xfrm>
            <a:off x="1983865" y="2227376"/>
            <a:ext cx="941183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D4A5C"/>
                </a:solidFill>
                <a:latin typeface="Noto Sans JP" pitchFamily="34" charset="0"/>
                <a:ea typeface="Noto Sans JP" pitchFamily="34" charset="-122"/>
                <a:cs typeface="Noto Sans JP" pitchFamily="34" charset="-120"/>
              </a:rPr>
              <a:t>Google がオーロラ作戦（IE のゼロデイを突いた標的型攻撃）の被害を公表。社員の端末から社内に入り込まれた</a:t>
            </a:r>
            <a:endParaRPr lang="en-US" sz="1500" dirty="0"/>
          </a:p>
        </p:txBody>
      </p:sp>
      <p:sp>
        <p:nvSpPr>
          <p:cNvPr id="7" name="Shape 5"/>
          <p:cNvSpPr/>
          <p:nvPr/>
        </p:nvSpPr>
        <p:spPr>
          <a:xfrm>
            <a:off x="815975" y="3135878"/>
            <a:ext cx="10560051" cy="747656"/>
          </a:xfrm>
          <a:prstGeom prst="roundRect">
            <a:avLst>
              <a:gd name="adj" fmla="val 13164"/>
            </a:avLst>
          </a:prstGeom>
          <a:solidFill>
            <a:srgbClr val="FFFFFF"/>
          </a:solidFill>
          <a:ln w="6350">
            <a:solidFill>
              <a:srgbClr val="D9DEE7"/>
            </a:solidFill>
            <a:prstDash val="solid"/>
          </a:ln>
        </p:spPr>
      </p:sp>
      <p:sp>
        <p:nvSpPr>
          <p:cNvPr id="8" name="Text 6"/>
          <p:cNvSpPr/>
          <p:nvPr/>
        </p:nvSpPr>
        <p:spPr>
          <a:xfrm>
            <a:off x="1070429" y="3314133"/>
            <a:ext cx="1005840" cy="41654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457C5"/>
                </a:solidFill>
                <a:latin typeface="Noto Sans JP" pitchFamily="34" charset="0"/>
                <a:ea typeface="Noto Sans JP" pitchFamily="34" charset="-122"/>
                <a:cs typeface="Noto Sans JP" pitchFamily="34" charset="-120"/>
              </a:rPr>
              <a:t>その後</a:t>
            </a:r>
            <a:endParaRPr lang="en-US" sz="2200" dirty="0"/>
          </a:p>
        </p:txBody>
      </p:sp>
      <p:sp>
        <p:nvSpPr>
          <p:cNvPr id="9" name="Text 7"/>
          <p:cNvSpPr/>
          <p:nvPr/>
        </p:nvSpPr>
        <p:spPr>
          <a:xfrm>
            <a:off x="2162629" y="3366804"/>
            <a:ext cx="571500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D4A5C"/>
                </a:solidFill>
                <a:latin typeface="Noto Sans JP" pitchFamily="34" charset="0"/>
                <a:ea typeface="Noto Sans JP" pitchFamily="34" charset="-122"/>
                <a:cs typeface="Noto Sans JP" pitchFamily="34" charset="-120"/>
              </a:rPr>
              <a:t>「社内ネットワークを信頼しない」仕組みを自社で構築</a:t>
            </a:r>
            <a:endParaRPr lang="en-US" sz="1500" dirty="0"/>
          </a:p>
        </p:txBody>
      </p:sp>
      <p:sp>
        <p:nvSpPr>
          <p:cNvPr id="10" name="Shape 8"/>
          <p:cNvSpPr/>
          <p:nvPr/>
        </p:nvSpPr>
        <p:spPr>
          <a:xfrm>
            <a:off x="815975" y="4042285"/>
            <a:ext cx="10560051" cy="747656"/>
          </a:xfrm>
          <a:prstGeom prst="roundRect">
            <a:avLst>
              <a:gd name="adj" fmla="val 13164"/>
            </a:avLst>
          </a:prstGeom>
          <a:solidFill>
            <a:srgbClr val="FFFFFF"/>
          </a:solidFill>
          <a:ln w="6350">
            <a:solidFill>
              <a:srgbClr val="D9DEE7"/>
            </a:solidFill>
            <a:prstDash val="solid"/>
          </a:ln>
        </p:spPr>
      </p:sp>
      <p:sp>
        <p:nvSpPr>
          <p:cNvPr id="11" name="Text 9"/>
          <p:cNvSpPr/>
          <p:nvPr/>
        </p:nvSpPr>
        <p:spPr>
          <a:xfrm>
            <a:off x="1070429" y="4220538"/>
            <a:ext cx="791323" cy="41654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457C5"/>
                </a:solidFill>
                <a:latin typeface="Noto Sans JP" pitchFamily="34" charset="0"/>
                <a:ea typeface="Noto Sans JP" pitchFamily="34" charset="-122"/>
                <a:cs typeface="Noto Sans JP" pitchFamily="34" charset="-120"/>
              </a:rPr>
              <a:t>2014</a:t>
            </a:r>
            <a:endParaRPr lang="en-US" sz="2200" dirty="0"/>
          </a:p>
        </p:txBody>
      </p:sp>
      <p:sp>
        <p:nvSpPr>
          <p:cNvPr id="12" name="Text 10"/>
          <p:cNvSpPr/>
          <p:nvPr/>
        </p:nvSpPr>
        <p:spPr>
          <a:xfrm>
            <a:off x="1983865" y="4273209"/>
            <a:ext cx="929170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D4A5C"/>
                </a:solidFill>
                <a:latin typeface="Noto Sans JP" pitchFamily="34" charset="0"/>
                <a:ea typeface="Noto Sans JP" pitchFamily="34" charset="-122"/>
                <a:cs typeface="Noto Sans JP" pitchFamily="34" charset="-120"/>
              </a:rPr>
              <a:t>論文『BeyondCorp』として発表。大企業の実例として、ゼロトラストが広まるきっかけに</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EF5"/>
        </a:solidFill>
      </p:bgPr>
    </p:bg>
    <p:spTree>
      <p:nvGrpSpPr>
        <p:cNvPr id="1" name=""/>
        <p:cNvGrpSpPr/>
        <p:nvPr/>
      </p:nvGrpSpPr>
      <p:grpSpPr>
        <a:xfrm>
          <a:off x="0" y="0"/>
          <a:ext cx="0" cy="0"/>
          <a:chOff x="0" y="0"/>
          <a:chExt cx="0" cy="0"/>
        </a:xfrm>
      </p:grpSpPr>
      <p:sp>
        <p:nvSpPr>
          <p:cNvPr id="2" name="Text 0"/>
          <p:cNvSpPr/>
          <p:nvPr/>
        </p:nvSpPr>
        <p:spPr>
          <a:xfrm>
            <a:off x="812800" y="812800"/>
            <a:ext cx="1079500" cy="307295"/>
          </a:xfrm>
          <a:custGeom>
            <a:avLst/>
            <a:gdLst/>
            <a:ahLst/>
            <a:cxnLst/>
            <a:rect l="l" t="t" r="r" b="b"/>
            <a:pathLst>
              <a:path w="1079500" h="307295">
                <a:moveTo>
                  <a:pt x="153647" y="0"/>
                </a:moveTo>
                <a:lnTo>
                  <a:pt x="925853" y="0"/>
                </a:lnTo>
                <a:arcTo hR="153647" wR="153647" stAng="16200000" swAng="5400000"/>
                <a:lnTo>
                  <a:pt x="1079500" y="153647"/>
                </a:lnTo>
                <a:arcTo hR="153647" wR="153647" stAng="0" swAng="5400000"/>
                <a:lnTo>
                  <a:pt x="153647" y="307295"/>
                </a:lnTo>
                <a:arcTo hR="153647" wR="153647" stAng="5400000" swAng="5400000"/>
                <a:lnTo>
                  <a:pt x="0" y="153647"/>
                </a:lnTo>
                <a:arcTo hR="153647" wR="153647" stAng="10800000" swAng="5400000"/>
                <a:close/>
              </a:path>
            </a:pathLst>
          </a:custGeom>
          <a:solidFill>
            <a:srgbClr val="F3D2B3"/>
          </a:solidFill>
          <a:ln/>
        </p:spPr>
        <p:txBody>
          <a:bodyPr wrap="none" lIns="0" tIns="0" rIns="0" bIns="0" rtlCol="0" anchor="ctr">
            <a:normAutofit/>
          </a:bodyPr>
          <a:lstStyle/>
          <a:p>
            <a:pPr algn="ctr" indent="0" marL="0">
              <a:lnSpc>
                <a:spcPts val="1820"/>
              </a:lnSpc>
              <a:buNone/>
            </a:pPr>
            <a:r>
              <a:rPr lang="en-US" sz="1300" b="1" dirty="0">
                <a:solidFill>
                  <a:srgbClr val="7A3A0B"/>
                </a:solidFill>
                <a:latin typeface="Noto Sans JP" pitchFamily="34" charset="0"/>
                <a:ea typeface="Noto Sans JP" pitchFamily="34" charset="-122"/>
                <a:cs typeface="Noto Sans JP" pitchFamily="34" charset="-120"/>
              </a:rPr>
              <a:t>オプション</a:t>
            </a:r>
            <a:endParaRPr lang="en-US" sz="1300" dirty="0"/>
          </a:p>
        </p:txBody>
      </p:sp>
      <p:sp>
        <p:nvSpPr>
          <p:cNvPr id="3" name="Text 1"/>
          <p:cNvSpPr/>
          <p:nvPr/>
        </p:nvSpPr>
        <p:spPr>
          <a:xfrm>
            <a:off x="2044700" y="842001"/>
            <a:ext cx="42672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背景</a:t>
            </a:r>
            <a:endParaRPr lang="en-US" sz="1400" dirty="0"/>
          </a:p>
        </p:txBody>
      </p:sp>
      <p:sp>
        <p:nvSpPr>
          <p:cNvPr id="4" name="Text 2"/>
          <p:cNvSpPr/>
          <p:nvPr>
            <p:ph type="title"/>
          </p:nvPr>
        </p:nvSpPr>
        <p:spPr>
          <a:xfrm>
            <a:off x="812800" y="13740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攻撃の流れと、どこで止めるか</a:t>
            </a:r>
            <a:endParaRPr lang="en-US" sz="3000" dirty="0"/>
          </a:p>
        </p:txBody>
      </p:sp>
      <p:sp>
        <p:nvSpPr>
          <p:cNvPr id="5" name="Text 3"/>
          <p:cNvSpPr/>
          <p:nvPr/>
        </p:nvSpPr>
        <p:spPr>
          <a:xfrm>
            <a:off x="815975"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25854" tIns="127454" rIns="25854" bIns="102054" rtlCol="0" anchor="t">
            <a:normAutofit/>
          </a:bodyPr>
          <a:lstStyle/>
          <a:p>
            <a:pPr algn="ctr" indent="0" marL="0">
              <a:lnSpc>
                <a:spcPts val="1820"/>
              </a:lnSpc>
              <a:buNone/>
            </a:pPr>
            <a:r>
              <a:rPr lang="en-US" sz="1300" dirty="0">
                <a:solidFill>
                  <a:srgbClr val="14213D"/>
                </a:solidFill>
                <a:latin typeface="Noto Sans JP" pitchFamily="34" charset="0"/>
                <a:ea typeface="Noto Sans JP" pitchFamily="34" charset="-122"/>
                <a:cs typeface="Noto Sans JP" pitchFamily="34" charset="-120"/>
              </a:rPr>
              <a:t>偵察</a:t>
            </a:r>
            <a:endParaRPr lang="en-US" sz="1300" dirty="0"/>
          </a:p>
        </p:txBody>
      </p:sp>
      <p:sp>
        <p:nvSpPr>
          <p:cNvPr id="6" name="Text 4"/>
          <p:cNvSpPr/>
          <p:nvPr/>
        </p:nvSpPr>
        <p:spPr>
          <a:xfrm>
            <a:off x="2336347"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25854" tIns="127454" rIns="25854" bIns="102054" rtlCol="0" anchor="t">
            <a:normAutofit/>
          </a:bodyPr>
          <a:lstStyle/>
          <a:p>
            <a:pPr algn="ctr" indent="0" marL="0">
              <a:lnSpc>
                <a:spcPts val="1820"/>
              </a:lnSpc>
              <a:buNone/>
            </a:pPr>
            <a:r>
              <a:rPr lang="en-US" sz="1300" dirty="0">
                <a:solidFill>
                  <a:srgbClr val="14213D"/>
                </a:solidFill>
                <a:latin typeface="Noto Sans JP" pitchFamily="34" charset="0"/>
                <a:ea typeface="Noto Sans JP" pitchFamily="34" charset="-122"/>
                <a:cs typeface="Noto Sans JP" pitchFamily="34" charset="-120"/>
              </a:rPr>
              <a:t>武器化</a:t>
            </a:r>
            <a:endParaRPr lang="en-US" sz="1300" dirty="0"/>
          </a:p>
        </p:txBody>
      </p:sp>
      <p:sp>
        <p:nvSpPr>
          <p:cNvPr id="7" name="Text 5"/>
          <p:cNvSpPr/>
          <p:nvPr/>
        </p:nvSpPr>
        <p:spPr>
          <a:xfrm>
            <a:off x="3856718"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2457C5"/>
            </a:solidFill>
            <a:prstDash val="solid"/>
          </a:ln>
        </p:spPr>
        <p:txBody>
          <a:bodyPr wrap="square" lIns="25854" tIns="127454" rIns="25854" bIns="102054" rtlCol="0" anchor="t">
            <a:normAutofit/>
          </a:bodyPr>
          <a:lstStyle/>
          <a:p>
            <a:pPr algn="ctr" indent="0" marL="0">
              <a:lnSpc>
                <a:spcPts val="1820"/>
              </a:lnSpc>
              <a:buNone/>
            </a:pPr>
            <a:r>
              <a:rPr lang="en-US" sz="1300" b="1" dirty="0">
                <a:solidFill>
                  <a:srgbClr val="2457C5"/>
                </a:solidFill>
                <a:latin typeface="Noto Sans JP" pitchFamily="34" charset="0"/>
                <a:ea typeface="Noto Sans JP" pitchFamily="34" charset="-122"/>
                <a:cs typeface="Noto Sans JP" pitchFamily="34" charset="-120"/>
              </a:rPr>
              <a:t>配送</a:t>
            </a:r>
            <a:endParaRPr lang="en-US" sz="1300" dirty="0"/>
          </a:p>
        </p:txBody>
      </p:sp>
      <p:sp>
        <p:nvSpPr>
          <p:cNvPr id="8" name="Text 6"/>
          <p:cNvSpPr/>
          <p:nvPr/>
        </p:nvSpPr>
        <p:spPr>
          <a:xfrm>
            <a:off x="5377090"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25854" tIns="127454" rIns="25854" bIns="102054" rtlCol="0" anchor="t">
            <a:normAutofit/>
          </a:bodyPr>
          <a:lstStyle/>
          <a:p>
            <a:pPr algn="ctr" indent="0" marL="0">
              <a:lnSpc>
                <a:spcPts val="1820"/>
              </a:lnSpc>
              <a:buNone/>
            </a:pPr>
            <a:r>
              <a:rPr lang="en-US" sz="1300" dirty="0">
                <a:solidFill>
                  <a:srgbClr val="14213D"/>
                </a:solidFill>
                <a:latin typeface="Noto Sans JP" pitchFamily="34" charset="0"/>
                <a:ea typeface="Noto Sans JP" pitchFamily="34" charset="-122"/>
                <a:cs typeface="Noto Sans JP" pitchFamily="34" charset="-120"/>
              </a:rPr>
              <a:t>攻撃</a:t>
            </a:r>
            <a:endParaRPr lang="en-US" sz="1300" dirty="0"/>
          </a:p>
        </p:txBody>
      </p:sp>
      <p:sp>
        <p:nvSpPr>
          <p:cNvPr id="9" name="Text 7"/>
          <p:cNvSpPr/>
          <p:nvPr/>
        </p:nvSpPr>
        <p:spPr>
          <a:xfrm>
            <a:off x="6897461"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25854" tIns="127454" rIns="25854" bIns="102054" rtlCol="0" anchor="t">
            <a:normAutofit/>
          </a:bodyPr>
          <a:lstStyle/>
          <a:p>
            <a:pPr algn="ctr" indent="0" marL="0">
              <a:lnSpc>
                <a:spcPts val="1820"/>
              </a:lnSpc>
              <a:buNone/>
            </a:pPr>
            <a:r>
              <a:rPr lang="en-US" sz="1300" dirty="0">
                <a:solidFill>
                  <a:srgbClr val="14213D"/>
                </a:solidFill>
                <a:latin typeface="Noto Sans JP" pitchFamily="34" charset="0"/>
                <a:ea typeface="Noto Sans JP" pitchFamily="34" charset="-122"/>
                <a:cs typeface="Noto Sans JP" pitchFamily="34" charset="-120"/>
              </a:rPr>
              <a:t>インストール</a:t>
            </a:r>
            <a:endParaRPr lang="en-US" sz="1300" dirty="0"/>
          </a:p>
        </p:txBody>
      </p:sp>
      <p:sp>
        <p:nvSpPr>
          <p:cNvPr id="10" name="Text 8"/>
          <p:cNvSpPr/>
          <p:nvPr/>
        </p:nvSpPr>
        <p:spPr>
          <a:xfrm>
            <a:off x="8417833"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2457C5"/>
            </a:solidFill>
            <a:prstDash val="solid"/>
          </a:ln>
        </p:spPr>
        <p:txBody>
          <a:bodyPr wrap="square" lIns="25854" tIns="127454" rIns="25854" bIns="102054" rtlCol="0" anchor="t">
            <a:normAutofit/>
          </a:bodyPr>
          <a:lstStyle/>
          <a:p>
            <a:pPr algn="ctr" indent="0" marL="0">
              <a:lnSpc>
                <a:spcPts val="1820"/>
              </a:lnSpc>
              <a:buNone/>
            </a:pPr>
            <a:r>
              <a:rPr lang="en-US" sz="1300" b="1" dirty="0">
                <a:solidFill>
                  <a:srgbClr val="2457C5"/>
                </a:solidFill>
                <a:latin typeface="Noto Sans JP" pitchFamily="34" charset="0"/>
                <a:ea typeface="Noto Sans JP" pitchFamily="34" charset="-122"/>
                <a:cs typeface="Noto Sans JP" pitchFamily="34" charset="-120"/>
              </a:rPr>
              <a:t>遠隔操作</a:t>
            </a:r>
            <a:endParaRPr lang="en-US" sz="1300" dirty="0"/>
          </a:p>
        </p:txBody>
      </p:sp>
      <p:sp>
        <p:nvSpPr>
          <p:cNvPr id="11" name="Text 9"/>
          <p:cNvSpPr/>
          <p:nvPr/>
        </p:nvSpPr>
        <p:spPr>
          <a:xfrm>
            <a:off x="9938204" y="2107521"/>
            <a:ext cx="1437822" cy="486002"/>
          </a:xfrm>
          <a:custGeom>
            <a:avLst/>
            <a:gdLst/>
            <a:ahLst/>
            <a:cxnLst/>
            <a:rect l="l" t="t" r="r" b="b"/>
            <a:pathLst>
              <a:path w="1437822" h="486002">
                <a:moveTo>
                  <a:pt x="73025" y="0"/>
                </a:moveTo>
                <a:lnTo>
                  <a:pt x="1364797" y="0"/>
                </a:lnTo>
                <a:arcTo hR="73025" wR="73025" stAng="16200000" swAng="5400000"/>
                <a:lnTo>
                  <a:pt x="1437822" y="412977"/>
                </a:lnTo>
                <a:arcTo hR="73025" wR="73025" stAng="0" swAng="5400000"/>
                <a:lnTo>
                  <a:pt x="73025" y="486002"/>
                </a:lnTo>
                <a:arcTo hR="73025" wR="73025" stAng="5400000" swAng="5400000"/>
                <a:lnTo>
                  <a:pt x="0" y="73025"/>
                </a:lnTo>
                <a:arcTo hR="73025" wR="73025" stAng="10800000" swAng="5400000"/>
                <a:close/>
              </a:path>
            </a:pathLst>
          </a:custGeom>
          <a:solidFill>
            <a:srgbClr val="FFFFFF"/>
          </a:solidFill>
          <a:ln w="6350">
            <a:solidFill>
              <a:srgbClr val="2457C5"/>
            </a:solidFill>
            <a:prstDash val="solid"/>
          </a:ln>
        </p:spPr>
        <p:txBody>
          <a:bodyPr wrap="square" lIns="25854" tIns="127454" rIns="25854" bIns="102054" rtlCol="0" anchor="t">
            <a:normAutofit/>
          </a:bodyPr>
          <a:lstStyle/>
          <a:p>
            <a:pPr algn="ctr" indent="0" marL="0">
              <a:lnSpc>
                <a:spcPts val="1820"/>
              </a:lnSpc>
              <a:buNone/>
            </a:pPr>
            <a:r>
              <a:rPr lang="en-US" sz="1300" b="1" dirty="0">
                <a:solidFill>
                  <a:srgbClr val="2457C5"/>
                </a:solidFill>
                <a:latin typeface="Noto Sans JP" pitchFamily="34" charset="0"/>
                <a:ea typeface="Noto Sans JP" pitchFamily="34" charset="-122"/>
                <a:cs typeface="Noto Sans JP" pitchFamily="34" charset="-120"/>
              </a:rPr>
              <a:t>目的の実行</a:t>
            </a:r>
            <a:endParaRPr lang="en-US" sz="1300" dirty="0"/>
          </a:p>
        </p:txBody>
      </p:sp>
      <p:sp>
        <p:nvSpPr>
          <p:cNvPr id="12" name="Text 10"/>
          <p:cNvSpPr/>
          <p:nvPr/>
        </p:nvSpPr>
        <p:spPr>
          <a:xfrm>
            <a:off x="812800" y="2850697"/>
            <a:ext cx="10883393"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D4A5C"/>
                </a:solidFill>
                <a:latin typeface="Noto Sans JP" pitchFamily="34" charset="0"/>
                <a:ea typeface="Noto Sans JP" pitchFamily="34" charset="-122"/>
                <a:cs typeface="Noto Sans JP" pitchFamily="34" charset="-120"/>
              </a:rPr>
              <a:t>Cyber Kill Chain：攻撃は段階を順に踏むので、</a:t>
            </a:r>
            <a:r>
              <a:rPr lang="en-US" sz="1600" b="1" dirty="0">
                <a:solidFill>
                  <a:srgbClr val="3D4A5C"/>
                </a:solidFill>
                <a:latin typeface="Noto Sans JP" pitchFamily="34" charset="0"/>
                <a:ea typeface="Noto Sans JP" pitchFamily="34" charset="-122"/>
                <a:cs typeface="Noto Sans JP" pitchFamily="34" charset="-120"/>
              </a:rPr>
              <a:t>どこか1段階で断ち切れば</a:t>
            </a:r>
            <a:r>
              <a:rPr lang="en-US" sz="1600" dirty="0">
                <a:solidFill>
                  <a:srgbClr val="3D4A5C"/>
                </a:solidFill>
                <a:latin typeface="Noto Sans JP" pitchFamily="34" charset="0"/>
                <a:ea typeface="Noto Sans JP" pitchFamily="34" charset="-122"/>
                <a:cs typeface="Noto Sans JP" pitchFamily="34" charset="-120"/>
              </a:rPr>
              <a:t>目的の達成を防げる</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3686" y="3420383"/>
          <a:ext cx="10555515" cy="1643743"/>
        </p:xfrm>
        <a:graphic>
          <a:graphicData uri="http://schemas.openxmlformats.org/drawingml/2006/table">
            <a:tbl>
              <a:tblPr/>
              <a:tblGrid>
                <a:gridCol w="3166655"/>
                <a:gridCol w="7388861"/>
              </a:tblGrid>
              <a:tr h="410936">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段階</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AEB3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3BC"/>
                      </a:solidFill>
                      <a:prstDash val="solid"/>
                      <a:round/>
                      <a:headEnd type="none" w="med" len="med"/>
                      <a:tailEnd type="none" w="med" len="med"/>
                    </a:lnB>
                    <a:solidFill>
                      <a:srgbClr val="D9E0EC"/>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断ち切る仕組みの例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AEB3BC"/>
                      </a:solidFill>
                      <a:prstDash val="solid"/>
                      <a:round/>
                      <a:headEnd type="none" w="med" len="med"/>
                      <a:tailEnd type="none" w="med" len="med"/>
                    </a:lnL>
                    <a:lnR w="12700" cap="flat" cmpd="sng" algn="ctr">
                      <a:solidFill>
                        <a:srgbClr val="AEB3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3BC"/>
                      </a:solidFill>
                      <a:prstDash val="solid"/>
                      <a:round/>
                      <a:headEnd type="none" w="med" len="med"/>
                      <a:tailEnd type="none" w="med" len="med"/>
                    </a:lnB>
                    <a:solidFill>
                      <a:srgbClr val="D9E0EC"/>
                    </a:solidFill>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配送</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3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SWG（危険なサイトやファイルを止める）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3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遠隔操作</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SWG で通信先を遮断、SIEM で検知</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目的の実行</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DLP（機密データの持ち出しを止める）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3"/>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ゼロトラストとは</a:t>
            </a:r>
            <a:endParaRPr lang="en-US" sz="1400" dirty="0"/>
          </a:p>
        </p:txBody>
      </p:sp>
      <p:sp>
        <p:nvSpPr>
          <p:cNvPr id="3" name="Text 1"/>
          <p:cNvSpPr/>
          <p:nvPr>
            <p:ph type="title"/>
          </p:nvPr>
        </p:nvSpPr>
        <p:spPr>
          <a:xfrm>
            <a:off x="812800" y="1315700"/>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製品ではなく、目指す方向性</a:t>
            </a:r>
            <a:endParaRPr lang="en-US" sz="3000" dirty="0"/>
          </a:p>
        </p:txBody>
      </p:sp>
      <p:sp>
        <p:nvSpPr>
          <p:cNvPr id="4" name="Text 2"/>
          <p:cNvSpPr/>
          <p:nvPr/>
        </p:nvSpPr>
        <p:spPr>
          <a:xfrm>
            <a:off x="812800" y="2045950"/>
            <a:ext cx="10883393" cy="41654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457C5"/>
                </a:solidFill>
                <a:latin typeface="Noto Sans JP" pitchFamily="34" charset="0"/>
                <a:ea typeface="Noto Sans JP" pitchFamily="34" charset="-122"/>
                <a:cs typeface="Noto Sans JP" pitchFamily="34" charset="-120"/>
              </a:rPr>
              <a:t>「何も無条件には信頼しない」に少しずつ近づけていく</a:t>
            </a:r>
            <a:endParaRPr lang="en-US" sz="2200" dirty="0"/>
          </a:p>
        </p:txBody>
      </p:sp>
      <p:sp>
        <p:nvSpPr>
          <p:cNvPr id="5" name="Shape 3"/>
          <p:cNvSpPr/>
          <p:nvPr/>
        </p:nvSpPr>
        <p:spPr>
          <a:xfrm>
            <a:off x="815975" y="2694273"/>
            <a:ext cx="5175250" cy="1519805"/>
          </a:xfrm>
          <a:prstGeom prst="roundRect">
            <a:avLst>
              <a:gd name="adj" fmla="val 6476"/>
            </a:avLst>
          </a:prstGeom>
          <a:solidFill>
            <a:srgbClr val="FFFFFF"/>
          </a:solidFill>
          <a:ln w="6350">
            <a:solidFill>
              <a:srgbClr val="D9DEE7"/>
            </a:solidFill>
            <a:prstDash val="solid"/>
          </a:ln>
        </p:spPr>
      </p:sp>
      <p:sp>
        <p:nvSpPr>
          <p:cNvPr id="6" name="Text 4"/>
          <p:cNvSpPr/>
          <p:nvPr/>
        </p:nvSpPr>
        <p:spPr>
          <a:xfrm>
            <a:off x="1070429" y="2948725"/>
            <a:ext cx="480633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Noto Sans JP" pitchFamily="34" charset="0"/>
                <a:ea typeface="Noto Sans JP" pitchFamily="34" charset="-122"/>
                <a:cs typeface="Noto Sans JP" pitchFamily="34" charset="-120"/>
              </a:rPr>
              <a:t>製品ではない</a:t>
            </a:r>
            <a:endParaRPr lang="en-US" sz="1800" dirty="0"/>
          </a:p>
        </p:txBody>
      </p:sp>
      <p:sp>
        <p:nvSpPr>
          <p:cNvPr id="7" name="Text 5"/>
          <p:cNvSpPr/>
          <p:nvPr/>
        </p:nvSpPr>
        <p:spPr>
          <a:xfrm>
            <a:off x="1070429" y="3350025"/>
            <a:ext cx="480633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3D4A5C"/>
                </a:solidFill>
                <a:latin typeface="Noto Sans JP" pitchFamily="34" charset="0"/>
                <a:ea typeface="Noto Sans JP" pitchFamily="34" charset="-122"/>
                <a:cs typeface="Noto Sans JP" pitchFamily="34" charset="-120"/>
              </a:rPr>
              <a:t>「これを入れればゼロトラスト完成」というものはない。完成というゴールもない</a:t>
            </a:r>
            <a:endParaRPr lang="en-US" sz="1500" dirty="0"/>
          </a:p>
        </p:txBody>
      </p:sp>
      <p:sp>
        <p:nvSpPr>
          <p:cNvPr id="8" name="Shape 6"/>
          <p:cNvSpPr/>
          <p:nvPr/>
        </p:nvSpPr>
        <p:spPr>
          <a:xfrm>
            <a:off x="6200775" y="2694273"/>
            <a:ext cx="5175250" cy="1519805"/>
          </a:xfrm>
          <a:prstGeom prst="roundRect">
            <a:avLst>
              <a:gd name="adj" fmla="val 6476"/>
            </a:avLst>
          </a:prstGeom>
          <a:solidFill>
            <a:srgbClr val="FFFFFF"/>
          </a:solidFill>
          <a:ln w="6350">
            <a:solidFill>
              <a:srgbClr val="D9DEE7"/>
            </a:solidFill>
            <a:prstDash val="solid"/>
          </a:ln>
        </p:spPr>
      </p:sp>
      <p:sp>
        <p:nvSpPr>
          <p:cNvPr id="9" name="Text 7"/>
          <p:cNvSpPr/>
          <p:nvPr/>
        </p:nvSpPr>
        <p:spPr>
          <a:xfrm>
            <a:off x="6455229" y="2948725"/>
            <a:ext cx="4806333"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Noto Sans JP" pitchFamily="34" charset="0"/>
                <a:ea typeface="Noto Sans JP" pitchFamily="34" charset="-122"/>
                <a:cs typeface="Noto Sans JP" pitchFamily="34" charset="-120"/>
              </a:rPr>
              <a:t>境界型の全否定でもない</a:t>
            </a:r>
            <a:endParaRPr lang="en-US" sz="1800" dirty="0"/>
          </a:p>
        </p:txBody>
      </p:sp>
      <p:sp>
        <p:nvSpPr>
          <p:cNvPr id="10" name="Text 8"/>
          <p:cNvSpPr/>
          <p:nvPr/>
        </p:nvSpPr>
        <p:spPr>
          <a:xfrm>
            <a:off x="6455229" y="3350025"/>
            <a:ext cx="480633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3D4A5C"/>
                </a:solidFill>
                <a:latin typeface="Noto Sans JP" pitchFamily="34" charset="0"/>
                <a:ea typeface="Noto Sans JP" pitchFamily="34" charset="-122"/>
                <a:cs typeface="Noto Sans JP" pitchFamily="34" charset="-120"/>
              </a:rPr>
              <a:t>境界の対策は使い続けつつ、「社内だから信頼する」を減らしていく。しばらくは両方が混ざった形になる</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ゼロトラストとは　</a:t>
            </a:r>
            <a:r>
              <a:rPr lang="en-US" sz="1400" b="1" dirty="0">
                <a:solidFill>
                  <a:srgbClr val="6B7280"/>
                </a:solidFill>
                <a:latin typeface="Noto Sans JP" pitchFamily="34" charset="0"/>
                <a:ea typeface="Noto Sans JP" pitchFamily="34" charset="-122"/>
                <a:cs typeface="Noto Sans JP" pitchFamily="34" charset="-120"/>
              </a:rPr>
              <a:t>NIST：National Institute of Standards and Technology（米国国立標準技術研究所）</a:t>
            </a:r>
            <a:endParaRPr lang="en-US" sz="1400" dirty="0"/>
          </a:p>
        </p:txBody>
      </p:sp>
      <p:sp>
        <p:nvSpPr>
          <p:cNvPr id="3" name="Text 1"/>
          <p:cNvSpPr/>
          <p:nvPr>
            <p:ph type="title"/>
          </p:nvPr>
        </p:nvSpPr>
        <p:spPr>
          <a:xfrm>
            <a:off x="812800" y="12648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NIST の7つの原則</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1955232"/>
          <a:ext cx="10555515" cy="3073400"/>
        </p:xfrm>
        <a:graphic>
          <a:graphicData uri="http://schemas.openxmlformats.org/drawingml/2006/table">
            <a:tbl>
              <a:tblPr/>
              <a:tblGrid>
                <a:gridCol w="844441"/>
                <a:gridCol w="9711074"/>
              </a:tblGrid>
              <a:tr h="384175">
                <a:tc>
                  <a:txBody>
                    <a:bodyPr/>
                    <a:lstStyle/>
                    <a:p>
                      <a:pPr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原則の要点</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1</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データだけでなく、あらゆる構成要素を守る対象（リソース）とみなす</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2</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社内かどうかに関係なく、すべての通信を保護する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3</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アクセスはセッションごとに細かく区切って許可する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4</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利用者・端末の状態などから、その都度ポリシーで判断する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5</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すべての資産が安全な状態かを監視し続ける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6</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認証・認可はアクセスのたびに動的・厳格に行う</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7</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資産や通信の情報を集めて、改善に使う</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5231833"/>
            <a:ext cx="10566401" cy="556249"/>
          </a:xfrm>
          <a:prstGeom prst="roundRect">
            <a:avLst>
              <a:gd name="adj" fmla="val 13699"/>
            </a:avLst>
          </a:prstGeom>
          <a:solidFill>
            <a:srgbClr val="2457C5"/>
          </a:solidFill>
          <a:ln/>
        </p:spPr>
        <p:txBody>
          <a:bodyPr wrap="square" lIns="180882" tIns="104682" rIns="0" bIns="79282" rtlCol="0" anchor="t">
            <a:normAutofit/>
          </a:bodyPr>
          <a:lstStyle/>
          <a:p>
            <a:pPr algn="l" indent="0" marL="0">
              <a:lnSpc>
                <a:spcPts val="2380"/>
              </a:lnSpc>
              <a:buNone/>
            </a:pPr>
            <a:r>
              <a:rPr lang="en-US" sz="1700" b="1" dirty="0">
                <a:solidFill>
                  <a:srgbClr val="F7F6F2"/>
                </a:solidFill>
                <a:latin typeface="Noto Sans JP" pitchFamily="34" charset="0"/>
                <a:ea typeface="Noto Sans JP" pitchFamily="34" charset="-122"/>
                <a:cs typeface="Noto Sans JP" pitchFamily="34" charset="-120"/>
              </a:rPr>
              <a:t>まとめると：毎回確かめる・常に見張る・集めて改善し続ける</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EF5"/>
        </a:solidFill>
      </p:bgPr>
    </p:bg>
    <p:spTree>
      <p:nvGrpSpPr>
        <p:cNvPr id="1" name=""/>
        <p:cNvGrpSpPr/>
        <p:nvPr/>
      </p:nvGrpSpPr>
      <p:grpSpPr>
        <a:xfrm>
          <a:off x="0" y="0"/>
          <a:ext cx="0" cy="0"/>
          <a:chOff x="0" y="0"/>
          <a:chExt cx="0" cy="0"/>
        </a:xfrm>
      </p:grpSpPr>
      <p:sp>
        <p:nvSpPr>
          <p:cNvPr id="2" name="Text 0"/>
          <p:cNvSpPr/>
          <p:nvPr/>
        </p:nvSpPr>
        <p:spPr>
          <a:xfrm>
            <a:off x="812800" y="812800"/>
            <a:ext cx="1079500" cy="307295"/>
          </a:xfrm>
          <a:custGeom>
            <a:avLst/>
            <a:gdLst/>
            <a:ahLst/>
            <a:cxnLst/>
            <a:rect l="l" t="t" r="r" b="b"/>
            <a:pathLst>
              <a:path w="1079500" h="307295">
                <a:moveTo>
                  <a:pt x="153647" y="0"/>
                </a:moveTo>
                <a:lnTo>
                  <a:pt x="925853" y="0"/>
                </a:lnTo>
                <a:arcTo hR="153647" wR="153647" stAng="16200000" swAng="5400000"/>
                <a:lnTo>
                  <a:pt x="1079500" y="153647"/>
                </a:lnTo>
                <a:arcTo hR="153647" wR="153647" stAng="0" swAng="5400000"/>
                <a:lnTo>
                  <a:pt x="153647" y="307295"/>
                </a:lnTo>
                <a:arcTo hR="153647" wR="153647" stAng="5400000" swAng="5400000"/>
                <a:lnTo>
                  <a:pt x="0" y="153647"/>
                </a:lnTo>
                <a:arcTo hR="153647" wR="153647" stAng="10800000" swAng="5400000"/>
                <a:close/>
              </a:path>
            </a:pathLst>
          </a:custGeom>
          <a:solidFill>
            <a:srgbClr val="F3D2B3"/>
          </a:solidFill>
          <a:ln/>
        </p:spPr>
        <p:txBody>
          <a:bodyPr wrap="none" lIns="0" tIns="0" rIns="0" bIns="0" rtlCol="0" anchor="ctr">
            <a:normAutofit/>
          </a:bodyPr>
          <a:lstStyle/>
          <a:p>
            <a:pPr algn="ctr" indent="0" marL="0">
              <a:lnSpc>
                <a:spcPts val="1820"/>
              </a:lnSpc>
              <a:buNone/>
            </a:pPr>
            <a:r>
              <a:rPr lang="en-US" sz="1300" b="1" dirty="0">
                <a:solidFill>
                  <a:srgbClr val="7A3A0B"/>
                </a:solidFill>
                <a:latin typeface="Noto Sans JP" pitchFamily="34" charset="0"/>
                <a:ea typeface="Noto Sans JP" pitchFamily="34" charset="-122"/>
                <a:cs typeface="Noto Sans JP" pitchFamily="34" charset="-120"/>
              </a:rPr>
              <a:t>オプション</a:t>
            </a:r>
            <a:endParaRPr lang="en-US" sz="1300" dirty="0"/>
          </a:p>
        </p:txBody>
      </p:sp>
      <p:sp>
        <p:nvSpPr>
          <p:cNvPr id="3" name="Text 1"/>
          <p:cNvSpPr/>
          <p:nvPr/>
        </p:nvSpPr>
        <p:spPr>
          <a:xfrm>
            <a:off x="2044700" y="841998"/>
            <a:ext cx="1702662"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ゼロトラストとは</a:t>
            </a:r>
            <a:endParaRPr lang="en-US" sz="1400" dirty="0"/>
          </a:p>
        </p:txBody>
      </p:sp>
      <p:sp>
        <p:nvSpPr>
          <p:cNvPr id="4" name="Text 2"/>
          <p:cNvSpPr/>
          <p:nvPr>
            <p:ph type="title"/>
          </p:nvPr>
        </p:nvSpPr>
        <p:spPr>
          <a:xfrm>
            <a:off x="812800" y="1374093"/>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条件付きアクセス：原則4の具体例</a:t>
            </a:r>
            <a:endParaRPr lang="en-US" sz="3000" dirty="0"/>
          </a:p>
        </p:txBody>
      </p:sp>
      <p:sp>
        <p:nvSpPr>
          <p:cNvPr id="5" name="Text 3"/>
          <p:cNvSpPr/>
          <p:nvPr/>
        </p:nvSpPr>
        <p:spPr>
          <a:xfrm>
            <a:off x="815975" y="2107518"/>
            <a:ext cx="2292350" cy="590153"/>
          </a:xfrm>
          <a:custGeom>
            <a:avLst/>
            <a:gdLst/>
            <a:ahLst/>
            <a:cxnLst/>
            <a:rect l="l" t="t" r="r" b="b"/>
            <a:pathLst>
              <a:path w="2292350" h="590153">
                <a:moveTo>
                  <a:pt x="73025" y="0"/>
                </a:moveTo>
                <a:lnTo>
                  <a:pt x="2219325" y="0"/>
                </a:lnTo>
                <a:arcTo hR="73025" wR="73025" stAng="16200000" swAng="5400000"/>
                <a:lnTo>
                  <a:pt x="2292350" y="517128"/>
                </a:lnTo>
                <a:arcTo hR="73025" wR="73025" stAng="0" swAng="5400000"/>
                <a:lnTo>
                  <a:pt x="73025" y="590153"/>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18406" tIns="152854" rIns="18406" bIns="127454" rtlCol="0" anchor="t">
            <a:normAutofit/>
          </a:bodyPr>
          <a:lstStyle/>
          <a:p>
            <a:pPr algn="ctr" indent="0" marL="0">
              <a:lnSpc>
                <a:spcPts val="2240"/>
              </a:lnSpc>
              <a:buNone/>
            </a:pPr>
            <a:r>
              <a:rPr lang="en-US" sz="1600" b="1" dirty="0">
                <a:solidFill>
                  <a:srgbClr val="14213D"/>
                </a:solidFill>
                <a:latin typeface="Noto Sans JP" pitchFamily="34" charset="0"/>
                <a:ea typeface="Noto Sans JP" pitchFamily="34" charset="-122"/>
                <a:cs typeface="Noto Sans JP" pitchFamily="34" charset="-120"/>
              </a:rPr>
              <a:t>誰か</a:t>
            </a:r>
            <a:endParaRPr lang="en-US" sz="1600" dirty="0"/>
          </a:p>
        </p:txBody>
      </p:sp>
      <p:sp>
        <p:nvSpPr>
          <p:cNvPr id="6" name="Text 4"/>
          <p:cNvSpPr/>
          <p:nvPr/>
        </p:nvSpPr>
        <p:spPr>
          <a:xfrm>
            <a:off x="3213100" y="2224767"/>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7280"/>
                </a:solidFill>
                <a:latin typeface="Noto Sans JP" pitchFamily="34" charset="0"/>
                <a:ea typeface="Noto Sans JP" pitchFamily="34" charset="-122"/>
                <a:cs typeface="Noto Sans JP" pitchFamily="34" charset="-120"/>
              </a:rPr>
              <a:t>×</a:t>
            </a:r>
            <a:endParaRPr lang="en-US" sz="2000" dirty="0"/>
          </a:p>
        </p:txBody>
      </p:sp>
      <p:sp>
        <p:nvSpPr>
          <p:cNvPr id="7" name="Text 5"/>
          <p:cNvSpPr/>
          <p:nvPr/>
        </p:nvSpPr>
        <p:spPr>
          <a:xfrm>
            <a:off x="3571875" y="2107518"/>
            <a:ext cx="2292350" cy="590153"/>
          </a:xfrm>
          <a:custGeom>
            <a:avLst/>
            <a:gdLst/>
            <a:ahLst/>
            <a:cxnLst/>
            <a:rect l="l" t="t" r="r" b="b"/>
            <a:pathLst>
              <a:path w="2292350" h="590153">
                <a:moveTo>
                  <a:pt x="73025" y="0"/>
                </a:moveTo>
                <a:lnTo>
                  <a:pt x="2219325" y="0"/>
                </a:lnTo>
                <a:arcTo hR="73025" wR="73025" stAng="16200000" swAng="5400000"/>
                <a:lnTo>
                  <a:pt x="2292350" y="517128"/>
                </a:lnTo>
                <a:arcTo hR="73025" wR="73025" stAng="0" swAng="5400000"/>
                <a:lnTo>
                  <a:pt x="73025" y="590153"/>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18406" tIns="152854" rIns="18406" bIns="127454" rtlCol="0" anchor="t">
            <a:normAutofit/>
          </a:bodyPr>
          <a:lstStyle/>
          <a:p>
            <a:pPr algn="ctr" indent="0" marL="0">
              <a:lnSpc>
                <a:spcPts val="2240"/>
              </a:lnSpc>
              <a:buNone/>
            </a:pPr>
            <a:r>
              <a:rPr lang="en-US" sz="1600" b="1" dirty="0">
                <a:solidFill>
                  <a:srgbClr val="14213D"/>
                </a:solidFill>
                <a:latin typeface="Noto Sans JP" pitchFamily="34" charset="0"/>
                <a:ea typeface="Noto Sans JP" pitchFamily="34" charset="-122"/>
                <a:cs typeface="Noto Sans JP" pitchFamily="34" charset="-120"/>
              </a:rPr>
              <a:t>どの端末か</a:t>
            </a:r>
            <a:endParaRPr lang="en-US" sz="1600" dirty="0"/>
          </a:p>
        </p:txBody>
      </p:sp>
      <p:sp>
        <p:nvSpPr>
          <p:cNvPr id="8" name="Text 6"/>
          <p:cNvSpPr/>
          <p:nvPr/>
        </p:nvSpPr>
        <p:spPr>
          <a:xfrm>
            <a:off x="5969000" y="2224767"/>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7280"/>
                </a:solidFill>
                <a:latin typeface="Noto Sans JP" pitchFamily="34" charset="0"/>
                <a:ea typeface="Noto Sans JP" pitchFamily="34" charset="-122"/>
                <a:cs typeface="Noto Sans JP" pitchFamily="34" charset="-120"/>
              </a:rPr>
              <a:t>×</a:t>
            </a:r>
            <a:endParaRPr lang="en-US" sz="2000" dirty="0"/>
          </a:p>
        </p:txBody>
      </p:sp>
      <p:sp>
        <p:nvSpPr>
          <p:cNvPr id="9" name="Text 7"/>
          <p:cNvSpPr/>
          <p:nvPr/>
        </p:nvSpPr>
        <p:spPr>
          <a:xfrm>
            <a:off x="6327775" y="2107518"/>
            <a:ext cx="2292350" cy="590153"/>
          </a:xfrm>
          <a:custGeom>
            <a:avLst/>
            <a:gdLst/>
            <a:ahLst/>
            <a:cxnLst/>
            <a:rect l="l" t="t" r="r" b="b"/>
            <a:pathLst>
              <a:path w="2292350" h="590153">
                <a:moveTo>
                  <a:pt x="73025" y="0"/>
                </a:moveTo>
                <a:lnTo>
                  <a:pt x="2219325" y="0"/>
                </a:lnTo>
                <a:arcTo hR="73025" wR="73025" stAng="16200000" swAng="5400000"/>
                <a:lnTo>
                  <a:pt x="2292350" y="517128"/>
                </a:lnTo>
                <a:arcTo hR="73025" wR="73025" stAng="0" swAng="5400000"/>
                <a:lnTo>
                  <a:pt x="73025" y="590153"/>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18406" tIns="152854" rIns="18406" bIns="127454" rtlCol="0" anchor="t">
            <a:normAutofit/>
          </a:bodyPr>
          <a:lstStyle/>
          <a:p>
            <a:pPr algn="ctr" indent="0" marL="0">
              <a:lnSpc>
                <a:spcPts val="2240"/>
              </a:lnSpc>
              <a:buNone/>
            </a:pPr>
            <a:r>
              <a:rPr lang="en-US" sz="1600" b="1" dirty="0">
                <a:solidFill>
                  <a:srgbClr val="14213D"/>
                </a:solidFill>
                <a:latin typeface="Noto Sans JP" pitchFamily="34" charset="0"/>
                <a:ea typeface="Noto Sans JP" pitchFamily="34" charset="-122"/>
                <a:cs typeface="Noto Sans JP" pitchFamily="34" charset="-120"/>
              </a:rPr>
              <a:t>どこからか</a:t>
            </a:r>
            <a:endParaRPr lang="en-US" sz="1600" dirty="0"/>
          </a:p>
        </p:txBody>
      </p:sp>
      <p:sp>
        <p:nvSpPr>
          <p:cNvPr id="10" name="Text 8"/>
          <p:cNvSpPr/>
          <p:nvPr/>
        </p:nvSpPr>
        <p:spPr>
          <a:xfrm>
            <a:off x="8724901" y="2224767"/>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7280"/>
                </a:solidFill>
                <a:latin typeface="Noto Sans JP" pitchFamily="34" charset="0"/>
                <a:ea typeface="Noto Sans JP" pitchFamily="34" charset="-122"/>
                <a:cs typeface="Noto Sans JP" pitchFamily="34" charset="-120"/>
              </a:rPr>
              <a:t>×</a:t>
            </a:r>
            <a:endParaRPr lang="en-US" sz="2000" dirty="0"/>
          </a:p>
        </p:txBody>
      </p:sp>
      <p:sp>
        <p:nvSpPr>
          <p:cNvPr id="11" name="Text 9"/>
          <p:cNvSpPr/>
          <p:nvPr/>
        </p:nvSpPr>
        <p:spPr>
          <a:xfrm>
            <a:off x="9083676" y="2107518"/>
            <a:ext cx="2292350" cy="590153"/>
          </a:xfrm>
          <a:custGeom>
            <a:avLst/>
            <a:gdLst/>
            <a:ahLst/>
            <a:cxnLst/>
            <a:rect l="l" t="t" r="r" b="b"/>
            <a:pathLst>
              <a:path w="2292350" h="590153">
                <a:moveTo>
                  <a:pt x="73025" y="0"/>
                </a:moveTo>
                <a:lnTo>
                  <a:pt x="2219325" y="0"/>
                </a:lnTo>
                <a:arcTo hR="73025" wR="73025" stAng="16200000" swAng="5400000"/>
                <a:lnTo>
                  <a:pt x="2292350" y="517128"/>
                </a:lnTo>
                <a:arcTo hR="73025" wR="73025" stAng="0" swAng="5400000"/>
                <a:lnTo>
                  <a:pt x="73025" y="590153"/>
                </a:lnTo>
                <a:arcTo hR="73025" wR="73025" stAng="5400000" swAng="5400000"/>
                <a:lnTo>
                  <a:pt x="0" y="73025"/>
                </a:lnTo>
                <a:arcTo hR="73025" wR="73025" stAng="10800000" swAng="5400000"/>
                <a:close/>
              </a:path>
            </a:pathLst>
          </a:custGeom>
          <a:solidFill>
            <a:srgbClr val="FFFFFF"/>
          </a:solidFill>
          <a:ln w="6350">
            <a:solidFill>
              <a:srgbClr val="C7CFDD"/>
            </a:solidFill>
            <a:prstDash val="solid"/>
          </a:ln>
        </p:spPr>
        <p:txBody>
          <a:bodyPr wrap="square" lIns="18406" tIns="152854" rIns="18406" bIns="127454" rtlCol="0" anchor="t">
            <a:normAutofit/>
          </a:bodyPr>
          <a:lstStyle/>
          <a:p>
            <a:pPr algn="ctr" indent="0" marL="0">
              <a:lnSpc>
                <a:spcPts val="2240"/>
              </a:lnSpc>
              <a:buNone/>
            </a:pPr>
            <a:r>
              <a:rPr lang="en-US" sz="1600" b="1" dirty="0">
                <a:solidFill>
                  <a:srgbClr val="14213D"/>
                </a:solidFill>
                <a:latin typeface="Noto Sans JP" pitchFamily="34" charset="0"/>
                <a:ea typeface="Noto Sans JP" pitchFamily="34" charset="-122"/>
                <a:cs typeface="Noto Sans JP" pitchFamily="34" charset="-120"/>
              </a:rPr>
              <a:t>何をするか</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3686" y="2965732"/>
          <a:ext cx="10555515" cy="1643743"/>
        </p:xfrm>
        <a:graphic>
          <a:graphicData uri="http://schemas.openxmlformats.org/drawingml/2006/table">
            <a:tbl>
              <a:tblPr/>
              <a:tblGrid>
                <a:gridCol w="5805533"/>
                <a:gridCol w="4749982"/>
              </a:tblGrid>
              <a:tr h="410936">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状況</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AEB3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3BC"/>
                      </a:solidFill>
                      <a:prstDash val="solid"/>
                      <a:round/>
                      <a:headEnd type="none" w="med" len="med"/>
                      <a:tailEnd type="none" w="med" len="med"/>
                    </a:lnB>
                    <a:solidFill>
                      <a:srgbClr val="D9E0EC"/>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判断</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AEB3BC"/>
                      </a:solidFill>
                      <a:prstDash val="solid"/>
                      <a:round/>
                      <a:headEnd type="none" w="med" len="med"/>
                      <a:tailEnd type="none" w="med" len="med"/>
                    </a:lnL>
                    <a:lnR w="12700" cap="flat" cmpd="sng" algn="ctr">
                      <a:solidFill>
                        <a:srgbClr val="AEB3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3BC"/>
                      </a:solidFill>
                      <a:prstDash val="solid"/>
                      <a:round/>
                      <a:headEnd type="none" w="med" len="med"/>
                      <a:tailEnd type="none" w="med" len="med"/>
                    </a:lnB>
                    <a:solidFill>
                      <a:srgbClr val="D9E0EC"/>
                    </a:solidFill>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会社が管理する端末から</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3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許可</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3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私物の端末から</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閲覧だけ許可</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海外の見慣れない場所から</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追加の認証を求める、またはブロック</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a:t>
            </a:r>
            <a:endParaRPr lang="en-US" sz="1400" dirty="0"/>
          </a:p>
        </p:txBody>
      </p:sp>
      <p:sp>
        <p:nvSpPr>
          <p:cNvPr id="3" name="Text 1"/>
          <p:cNvSpPr/>
          <p:nvPr>
            <p:ph type="title"/>
          </p:nvPr>
        </p:nvSpPr>
        <p:spPr>
          <a:xfrm>
            <a:off x="812800" y="1315703"/>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「アクセスのたびに確かめる」を分解すると</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686" y="2056838"/>
          <a:ext cx="10555515" cy="2945266"/>
        </p:xfrm>
        <a:graphic>
          <a:graphicData uri="http://schemas.openxmlformats.org/drawingml/2006/table">
            <a:tbl>
              <a:tblPr/>
              <a:tblGrid>
                <a:gridCol w="4222206"/>
                <a:gridCol w="6333309"/>
              </a:tblGrid>
              <a:tr h="490878">
                <a:tc>
                  <a:txBody>
                    <a:bodyPr/>
                    <a:lstStyle/>
                    <a:p>
                      <a:pPr indent="0" marL="0">
                        <a:lnSpc>
                          <a:spcPts val="2520"/>
                        </a:lnSpc>
                        <a:buNone/>
                      </a:pPr>
                      <a:r>
                        <a:rPr lang="en-US" sz="1800" b="1" dirty="0">
                          <a:solidFill>
                            <a:srgbClr val="14213D"/>
                          </a:solidFill>
                          <a:latin typeface="Noto Sans JP" pitchFamily="34" charset="0"/>
                          <a:ea typeface="Noto Sans JP" pitchFamily="34" charset="-122"/>
                          <a:cs typeface="Noto Sans JP" pitchFamily="34" charset="-120"/>
                        </a:rPr>
                        <a:t>確かめること</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520"/>
                        </a:lnSpc>
                        <a:buNone/>
                      </a:pPr>
                      <a:r>
                        <a:rPr lang="en-US" sz="1800" b="1" dirty="0">
                          <a:solidFill>
                            <a:srgbClr val="14213D"/>
                          </a:solidFill>
                          <a:latin typeface="Noto Sans JP" pitchFamily="34" charset="0"/>
                          <a:ea typeface="Noto Sans JP" pitchFamily="34" charset="-122"/>
                          <a:cs typeface="Noto Sans JP" pitchFamily="34" charset="-120"/>
                        </a:rPr>
                        <a:t>仕組み</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490878">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誰か</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IAM、相互 TLS</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0878">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どの端末か</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MDM / MAM、TPM</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0878">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どこへの通信か</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IAP、SWG</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0878">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何のデータか</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DLP</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90878">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見張る・対応する</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520"/>
                        </a:lnSpc>
                        <a:buNone/>
                      </a:pPr>
                      <a:r>
                        <a:rPr lang="en-US" sz="1800" dirty="0">
                          <a:solidFill>
                            <a:srgbClr val="14213D"/>
                          </a:solidFill>
                          <a:latin typeface="Noto Sans JP" pitchFamily="34" charset="0"/>
                          <a:ea typeface="Noto Sans JP" pitchFamily="34" charset="-122"/>
                          <a:cs typeface="Noto Sans JP" pitchFamily="34" charset="-120"/>
                        </a:rPr>
                        <a:t>SIEM / SOAR</a:t>
                      </a:r>
                      <a:endParaRPr lang="en-US" sz="1800" dirty="0">
                        <a:latin typeface="Noto Sans JP" charset="0"/>
                        <a:ea typeface="Noto Sans JP" charset="0"/>
                        <a:cs typeface="Noto Sans JP" charset="0"/>
                      </a:endParaRPr>
                    </a:p>
                  </a:txBody>
                  <a:tcPr marL="80010" marR="80010" marT="80010" marB="8001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1／5　誰か</a:t>
            </a:r>
            <a:endParaRPr lang="en-US" sz="1400" dirty="0"/>
          </a:p>
        </p:txBody>
      </p:sp>
      <p:sp>
        <p:nvSpPr>
          <p:cNvPr id="3" name="Text 1"/>
          <p:cNvSpPr/>
          <p:nvPr>
            <p:ph type="title"/>
          </p:nvPr>
        </p:nvSpPr>
        <p:spPr>
          <a:xfrm>
            <a:off x="812800" y="1290303"/>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IAM：認証と認可の基盤</a:t>
            </a:r>
            <a:endParaRPr lang="en-US" sz="3000" dirty="0"/>
          </a:p>
        </p:txBody>
      </p:sp>
      <p:sp>
        <p:nvSpPr>
          <p:cNvPr id="4" name="Text 2"/>
          <p:cNvSpPr/>
          <p:nvPr/>
        </p:nvSpPr>
        <p:spPr>
          <a:xfrm>
            <a:off x="812800" y="1817353"/>
            <a:ext cx="1088339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Noto Sans JP" pitchFamily="34" charset="0"/>
                <a:ea typeface="Noto Sans JP" pitchFamily="34" charset="-122"/>
                <a:cs typeface="Noto Sans JP" pitchFamily="34" charset="-120"/>
              </a:rPr>
              <a:t>Identity and Access Management</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686" y="2323538"/>
          <a:ext cx="10555515" cy="1232807"/>
        </p:xfrm>
        <a:graphic>
          <a:graphicData uri="http://schemas.openxmlformats.org/drawingml/2006/table">
            <a:tbl>
              <a:tblPr/>
              <a:tblGrid>
                <a:gridCol w="1899993"/>
                <a:gridCol w="2322213"/>
                <a:gridCol w="6333309"/>
              </a:tblGrid>
              <a:tr h="410936">
                <a:tc>
                  <a:txBody>
                    <a:bodyPr/>
                    <a:lstStyle/>
                    <a:p>
                      <a:pPr indent="0" marL="0">
                        <a:lnSpc>
                          <a:spcPts val="2100"/>
                        </a:lnSpc>
                        <a:buNone/>
                      </a:pP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問い</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IAM がすること</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認証</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誰か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本人であることを確かめる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認可</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何ができるか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役割に応じて、使えるリソースや操作を決める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6" name="Shape 3"/>
          <p:cNvSpPr/>
          <p:nvPr/>
        </p:nvSpPr>
        <p:spPr>
          <a:xfrm>
            <a:off x="815975" y="3788116"/>
            <a:ext cx="5175250" cy="1542653"/>
          </a:xfrm>
          <a:prstGeom prst="roundRect">
            <a:avLst>
              <a:gd name="adj" fmla="val 6380"/>
            </a:avLst>
          </a:prstGeom>
          <a:solidFill>
            <a:srgbClr val="FFFFFF"/>
          </a:solidFill>
          <a:ln w="6350">
            <a:solidFill>
              <a:srgbClr val="D9DEE7"/>
            </a:solidFill>
            <a:prstDash val="solid"/>
          </a:ln>
        </p:spPr>
      </p:sp>
      <p:sp>
        <p:nvSpPr>
          <p:cNvPr id="7" name="Text 4"/>
          <p:cNvSpPr/>
          <p:nvPr/>
        </p:nvSpPr>
        <p:spPr>
          <a:xfrm>
            <a:off x="1019629" y="3991769"/>
            <a:ext cx="4910981"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57C5"/>
                </a:solidFill>
                <a:latin typeface="Noto Sans JP" pitchFamily="34" charset="0"/>
                <a:ea typeface="Noto Sans JP" pitchFamily="34" charset="-122"/>
                <a:cs typeface="Noto Sans JP" pitchFamily="34" charset="-120"/>
              </a:rPr>
              <a:t>多要素認証（MFA）</a:t>
            </a:r>
            <a:endParaRPr lang="en-US" sz="1700" dirty="0"/>
          </a:p>
        </p:txBody>
      </p:sp>
      <p:sp>
        <p:nvSpPr>
          <p:cNvPr id="8" name="Text 5"/>
          <p:cNvSpPr/>
          <p:nvPr/>
        </p:nvSpPr>
        <p:spPr>
          <a:xfrm>
            <a:off x="1019629" y="4327017"/>
            <a:ext cx="4910981"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Noto Sans JP" pitchFamily="34" charset="0"/>
                <a:ea typeface="Noto Sans JP" pitchFamily="34" charset="-122"/>
                <a:cs typeface="Noto Sans JP" pitchFamily="34" charset="-120"/>
              </a:rPr>
              <a:t>パスワード（知っているもの）＋スマホ（持っているもの）や指紋（本人の特徴）など、種類の違う要素を組み合わせる</a:t>
            </a:r>
            <a:endParaRPr lang="en-US" sz="1400" dirty="0"/>
          </a:p>
        </p:txBody>
      </p:sp>
      <p:sp>
        <p:nvSpPr>
          <p:cNvPr id="9" name="Shape 6"/>
          <p:cNvSpPr/>
          <p:nvPr/>
        </p:nvSpPr>
        <p:spPr>
          <a:xfrm>
            <a:off x="6200775" y="3788116"/>
            <a:ext cx="5175250" cy="1542653"/>
          </a:xfrm>
          <a:prstGeom prst="roundRect">
            <a:avLst>
              <a:gd name="adj" fmla="val 6380"/>
            </a:avLst>
          </a:prstGeom>
          <a:solidFill>
            <a:srgbClr val="FFFFFF"/>
          </a:solidFill>
          <a:ln w="6350">
            <a:solidFill>
              <a:srgbClr val="D9DEE7"/>
            </a:solidFill>
            <a:prstDash val="solid"/>
          </a:ln>
        </p:spPr>
      </p:sp>
      <p:sp>
        <p:nvSpPr>
          <p:cNvPr id="10" name="Text 7"/>
          <p:cNvSpPr/>
          <p:nvPr/>
        </p:nvSpPr>
        <p:spPr>
          <a:xfrm>
            <a:off x="6404429" y="3991769"/>
            <a:ext cx="4910981"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57C5"/>
                </a:solidFill>
                <a:latin typeface="Noto Sans JP" pitchFamily="34" charset="0"/>
                <a:ea typeface="Noto Sans JP" pitchFamily="34" charset="-122"/>
                <a:cs typeface="Noto Sans JP" pitchFamily="34" charset="-120"/>
              </a:rPr>
              <a:t>リスクベース認証</a:t>
            </a:r>
            <a:endParaRPr lang="en-US" sz="1700" dirty="0"/>
          </a:p>
        </p:txBody>
      </p:sp>
      <p:sp>
        <p:nvSpPr>
          <p:cNvPr id="11" name="Text 8"/>
          <p:cNvSpPr/>
          <p:nvPr/>
        </p:nvSpPr>
        <p:spPr>
          <a:xfrm>
            <a:off x="6404429" y="4327017"/>
            <a:ext cx="491098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Noto Sans JP" pitchFamily="34" charset="0"/>
                <a:ea typeface="Noto Sans JP" pitchFamily="34" charset="-122"/>
                <a:cs typeface="Noto Sans JP" pitchFamily="34" charset="-120"/>
              </a:rPr>
              <a:t>いつもと違う場所・端末・時間帯からのときだけ、追加の確認を求める</a:t>
            </a:r>
            <a:endParaRPr lang="en-US" sz="1400" dirty="0"/>
          </a:p>
        </p:txBody>
      </p:sp>
      <p:sp>
        <p:nvSpPr>
          <p:cNvPr id="12" name="Text 9"/>
          <p:cNvSpPr/>
          <p:nvPr/>
        </p:nvSpPr>
        <p:spPr>
          <a:xfrm>
            <a:off x="812800" y="5562544"/>
            <a:ext cx="1088339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Noto Sans JP" pitchFamily="34" charset="0"/>
                <a:ea typeface="Noto Sans JP" pitchFamily="34" charset="-122"/>
                <a:cs typeface="Noto Sans JP" pitchFamily="34" charset="-120"/>
              </a:rPr>
              <a:t>例：Microsoft Entra ID（旧 Azure Active Directory）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6"/>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1／5　誰か</a:t>
            </a:r>
            <a:endParaRPr lang="en-US" sz="1400" dirty="0"/>
          </a:p>
        </p:txBody>
      </p:sp>
      <p:sp>
        <p:nvSpPr>
          <p:cNvPr id="3" name="Text 1"/>
          <p:cNvSpPr/>
          <p:nvPr>
            <p:ph type="title"/>
          </p:nvPr>
        </p:nvSpPr>
        <p:spPr>
          <a:xfrm>
            <a:off x="812800" y="1290303"/>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相互 TLS：クライアントも証明書で証明する</a:t>
            </a:r>
            <a:endParaRPr lang="en-US" sz="3000" dirty="0"/>
          </a:p>
        </p:txBody>
      </p:sp>
      <p:sp>
        <p:nvSpPr>
          <p:cNvPr id="4" name="Text 2"/>
          <p:cNvSpPr/>
          <p:nvPr/>
        </p:nvSpPr>
        <p:spPr>
          <a:xfrm>
            <a:off x="812800" y="1817353"/>
            <a:ext cx="1088339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Noto Sans JP" pitchFamily="34" charset="0"/>
                <a:ea typeface="Noto Sans JP" pitchFamily="34" charset="-122"/>
                <a:cs typeface="Noto Sans JP" pitchFamily="34" charset="-120"/>
              </a:rPr>
              <a:t>mTLS：mutual TLS（Transport Layer Security）</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686" y="2323538"/>
          <a:ext cx="10555515" cy="1643743"/>
        </p:xfrm>
        <a:graphic>
          <a:graphicData uri="http://schemas.openxmlformats.org/drawingml/2006/table">
            <a:tbl>
              <a:tblPr/>
              <a:tblGrid>
                <a:gridCol w="4222206"/>
                <a:gridCol w="3166655"/>
                <a:gridCol w="3166655"/>
              </a:tblGrid>
              <a:tr h="410936">
                <a:tc>
                  <a:txBody>
                    <a:bodyPr/>
                    <a:lstStyle/>
                    <a:p>
                      <a:pPr indent="0" marL="0">
                        <a:lnSpc>
                          <a:spcPts val="2100"/>
                        </a:lnSpc>
                        <a:buNone/>
                      </a:pP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ふつうの TLS</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相互 TLS</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サーバーが証明書を示す</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する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する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クライアントが証明書を示す</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しない</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する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確かめられること</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サーバーが本物か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 クライアントが誰か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6" name="Text 3"/>
          <p:cNvSpPr/>
          <p:nvPr/>
        </p:nvSpPr>
        <p:spPr>
          <a:xfrm>
            <a:off x="864870" y="4195880"/>
            <a:ext cx="10823703" cy="635000"/>
          </a:xfrm>
          <a:prstGeom prst="rect">
            <a:avLst/>
          </a:prstGeom>
          <a:noFill/>
          <a:ln/>
        </p:spPr>
        <p:txBody>
          <a:bodyPr wrap="square" lIns="0" tIns="0" rIns="0" bIns="0" rtlCol="0" anchor="t">
            <a:normAutofit/>
          </a:bodyPr>
          <a:lstStyle/>
          <a:p>
            <a:pPr algn="l" marL="201930" indent="-201930">
              <a:lnSpc>
                <a:spcPts val="2400"/>
              </a:lnSpc>
              <a:buSzPct val="100000"/>
              <a:buChar char="•"/>
            </a:pPr>
            <a:r>
              <a:rPr lang="en-US" sz="1500" dirty="0">
                <a:solidFill>
                  <a:srgbClr val="3D4A5C"/>
                </a:solidFill>
                <a:latin typeface="Noto Sans JP" pitchFamily="34" charset="0"/>
                <a:ea typeface="Noto Sans JP" pitchFamily="34" charset="-122"/>
                <a:cs typeface="Noto Sans JP" pitchFamily="34" charset="-120"/>
              </a:rPr>
              <a:t>利用者（や端末）ごとに秘密鍵を持たせ、クライアント証明書を発行する</a:t>
            </a:r>
            <a:endParaRPr lang="en-US" sz="1500" dirty="0"/>
          </a:p>
          <a:p>
            <a:pPr algn="l" marL="201930" indent="-201930">
              <a:lnSpc>
                <a:spcPts val="2400"/>
              </a:lnSpc>
              <a:buSzPct val="100000"/>
              <a:buChar char="•"/>
            </a:pPr>
            <a:r>
              <a:rPr lang="en-US" sz="1500" dirty="0">
                <a:solidFill>
                  <a:srgbClr val="3D4A5C"/>
                </a:solidFill>
                <a:latin typeface="Noto Sans JP" pitchFamily="34" charset="0"/>
                <a:ea typeface="Noto Sans JP" pitchFamily="34" charset="-122"/>
                <a:cs typeface="Noto Sans JP" pitchFamily="34" charset="-120"/>
              </a:rPr>
              <a:t>証明書は数が多いので、組織のプライベート CA で発行することが多い</a:t>
            </a:r>
            <a:endParaRPr lang="en-US" sz="1500" dirty="0"/>
          </a:p>
        </p:txBody>
      </p:sp>
      <p:sp>
        <p:nvSpPr>
          <p:cNvPr id="7" name="Text 4"/>
          <p:cNvSpPr/>
          <p:nvPr/>
        </p:nvSpPr>
        <p:spPr>
          <a:xfrm>
            <a:off x="812800" y="5034080"/>
            <a:ext cx="10566401" cy="520700"/>
          </a:xfrm>
          <a:prstGeom prst="roundRect">
            <a:avLst>
              <a:gd name="adj" fmla="val 14634"/>
            </a:avLst>
          </a:prstGeom>
          <a:solidFill>
            <a:srgbClr val="E4E9F2"/>
          </a:solidFill>
          <a:ln/>
        </p:spPr>
        <p:txBody>
          <a:bodyPr wrap="square" lIns="155482" tIns="104682" rIns="0" bIns="79282" rtlCol="0" anchor="t">
            <a:normAutofit/>
          </a:bodyPr>
          <a:lstStyle/>
          <a:p>
            <a:pPr algn="l" indent="0" marL="0">
              <a:lnSpc>
                <a:spcPts val="2100"/>
              </a:lnSpc>
              <a:buNone/>
            </a:pPr>
            <a:r>
              <a:rPr lang="en-US" sz="1400" dirty="0">
                <a:solidFill>
                  <a:srgbClr val="14213D"/>
                </a:solidFill>
                <a:latin typeface="Noto Sans JP" pitchFamily="34" charset="0"/>
                <a:ea typeface="Noto Sans JP" pitchFamily="34" charset="-122"/>
                <a:cs typeface="Noto Sans JP" pitchFamily="34" charset="-120"/>
              </a:rPr>
              <a:t>秘密鍵を持っていることを証明できれば本人だと分かる → 秘密鍵を盗まれないことが大事（TPM へ）</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2／5　どの端末か</a:t>
            </a:r>
            <a:endParaRPr lang="en-US" sz="1400" dirty="0"/>
          </a:p>
        </p:txBody>
      </p:sp>
      <p:sp>
        <p:nvSpPr>
          <p:cNvPr id="3" name="Text 1"/>
          <p:cNvSpPr/>
          <p:nvPr>
            <p:ph type="title"/>
          </p:nvPr>
        </p:nvSpPr>
        <p:spPr>
          <a:xfrm>
            <a:off x="812800" y="12648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MDM と MAM：端末を管理する</a:t>
            </a:r>
            <a:endParaRPr lang="en-US" sz="3000" dirty="0"/>
          </a:p>
        </p:txBody>
      </p:sp>
      <p:sp>
        <p:nvSpPr>
          <p:cNvPr id="4" name="Text 2"/>
          <p:cNvSpPr/>
          <p:nvPr/>
        </p:nvSpPr>
        <p:spPr>
          <a:xfrm>
            <a:off x="812800" y="1791946"/>
            <a:ext cx="1088339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7280"/>
                </a:solidFill>
                <a:latin typeface="Noto Sans JP" pitchFamily="34" charset="0"/>
                <a:ea typeface="Noto Sans JP" pitchFamily="34" charset="-122"/>
                <a:cs typeface="Noto Sans JP" pitchFamily="34" charset="-120"/>
              </a:rPr>
              <a:t>Mobile Device Management ／ Mobile Application Management</a:t>
            </a:r>
            <a:endParaRPr lang="en-US" sz="1400" dirty="0"/>
          </a:p>
        </p:txBody>
      </p:sp>
      <p:sp>
        <p:nvSpPr>
          <p:cNvPr id="5" name="Text 3"/>
          <p:cNvSpPr/>
          <p:nvPr/>
        </p:nvSpPr>
        <p:spPr>
          <a:xfrm>
            <a:off x="812800" y="2244043"/>
            <a:ext cx="1088339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D4A5C"/>
                </a:solidFill>
                <a:latin typeface="Noto Sans JP" pitchFamily="34" charset="0"/>
                <a:ea typeface="Noto Sans JP" pitchFamily="34" charset="-122"/>
                <a:cs typeface="Noto Sans JP" pitchFamily="34" charset="-120"/>
              </a:rPr>
              <a:t>本人でも、何年もパッチを当てていない PC からのアクセスは困る → 端末の状態も確かめる</a:t>
            </a:r>
            <a:endParaRPr lang="en-US" sz="1500" dirty="0"/>
          </a:p>
        </p:txBody>
      </p:sp>
      <p:sp>
        <p:nvSpPr>
          <p:cNvPr id="6" name="Text 4"/>
          <p:cNvSpPr/>
          <p:nvPr/>
        </p:nvSpPr>
        <p:spPr>
          <a:xfrm>
            <a:off x="864870" y="2732993"/>
            <a:ext cx="10823703" cy="596900"/>
          </a:xfrm>
          <a:prstGeom prst="rect">
            <a:avLst/>
          </a:prstGeom>
          <a:noFill/>
          <a:ln/>
        </p:spPr>
        <p:txBody>
          <a:bodyPr wrap="square" lIns="0" tIns="0" rIns="0" bIns="0" rtlCol="0" anchor="t">
            <a:normAutofit/>
          </a:bodyPr>
          <a:lstStyle/>
          <a:p>
            <a:pPr algn="l" marL="201930" indent="-201930">
              <a:lnSpc>
                <a:spcPts val="2250"/>
              </a:lnSpc>
              <a:buSzPct val="100000"/>
              <a:buChar char="•"/>
            </a:pPr>
            <a:r>
              <a:rPr lang="en-US" sz="1500" dirty="0">
                <a:solidFill>
                  <a:srgbClr val="3D4A5C"/>
                </a:solidFill>
                <a:latin typeface="Noto Sans JP" pitchFamily="34" charset="0"/>
                <a:ea typeface="Noto Sans JP" pitchFamily="34" charset="-122"/>
                <a:cs typeface="Noto Sans JP" pitchFamily="34" charset="-120"/>
              </a:rPr>
              <a:t>MDM エージェントを各端末に入れ、パッチや暗号化の状態を把握・設定を強制する</a:t>
            </a:r>
            <a:endParaRPr lang="en-US" sz="1500" dirty="0"/>
          </a:p>
          <a:p>
            <a:pPr algn="l" marL="201930" indent="-201930">
              <a:lnSpc>
                <a:spcPts val="2250"/>
              </a:lnSpc>
              <a:buSzPct val="100000"/>
              <a:buChar char="•"/>
            </a:pPr>
            <a:r>
              <a:rPr lang="en-US" sz="1500" dirty="0">
                <a:solidFill>
                  <a:srgbClr val="3D4A5C"/>
                </a:solidFill>
                <a:latin typeface="Noto Sans JP" pitchFamily="34" charset="0"/>
                <a:ea typeface="Noto Sans JP" pitchFamily="34" charset="-122"/>
                <a:cs typeface="Noto Sans JP" pitchFamily="34" charset="-120"/>
              </a:rPr>
              <a:t>IAM と連携して「条件を満たす端末からだけ許可」もできる。PC も対象</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686" y="3518579"/>
          <a:ext cx="10555515" cy="1536700"/>
        </p:xfrm>
        <a:graphic>
          <a:graphicData uri="http://schemas.openxmlformats.org/drawingml/2006/table">
            <a:tbl>
              <a:tblPr/>
              <a:tblGrid>
                <a:gridCol w="2955544"/>
                <a:gridCol w="3799985"/>
                <a:gridCol w="3799985"/>
              </a:tblGrid>
              <a:tr h="384175">
                <a:tc>
                  <a:txBody>
                    <a:bodyPr/>
                    <a:lstStyle/>
                    <a:p>
                      <a:pPr indent="0" marL="0">
                        <a:lnSpc>
                          <a:spcPts val="1960"/>
                        </a:lnSpc>
                        <a:buNone/>
                      </a:pP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MDM</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MAM</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管理する範囲</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端末全体</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業務用のアプリとデータ</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主な対象</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組織が配った端末</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私物の端末（BYOD）</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遠隔での消去</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端末ごと消せる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業務用のデータだけ</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2／5　どの端末か</a:t>
            </a:r>
            <a:endParaRPr lang="en-US" sz="1400" dirty="0"/>
          </a:p>
        </p:txBody>
      </p:sp>
      <p:sp>
        <p:nvSpPr>
          <p:cNvPr id="3" name="Text 1"/>
          <p:cNvSpPr/>
          <p:nvPr>
            <p:ph type="title"/>
          </p:nvPr>
        </p:nvSpPr>
        <p:spPr>
          <a:xfrm>
            <a:off x="812800" y="12902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TPM：秘密鍵を守るチップ</a:t>
            </a:r>
            <a:endParaRPr lang="en-US" sz="3000" dirty="0"/>
          </a:p>
        </p:txBody>
      </p:sp>
      <p:sp>
        <p:nvSpPr>
          <p:cNvPr id="4" name="Text 2"/>
          <p:cNvSpPr/>
          <p:nvPr/>
        </p:nvSpPr>
        <p:spPr>
          <a:xfrm>
            <a:off x="812800" y="1817346"/>
            <a:ext cx="1088339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Noto Sans JP" pitchFamily="34" charset="0"/>
                <a:ea typeface="Noto Sans JP" pitchFamily="34" charset="-122"/>
                <a:cs typeface="Noto Sans JP" pitchFamily="34" charset="-120"/>
              </a:rPr>
              <a:t>Trusted Platform Module</a:t>
            </a:r>
            <a:endParaRPr lang="en-US" sz="1500" dirty="0"/>
          </a:p>
        </p:txBody>
      </p:sp>
      <p:sp>
        <p:nvSpPr>
          <p:cNvPr id="5" name="Text 3"/>
          <p:cNvSpPr/>
          <p:nvPr/>
        </p:nvSpPr>
        <p:spPr>
          <a:xfrm>
            <a:off x="812800" y="2312646"/>
            <a:ext cx="1088339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D4A5C"/>
                </a:solidFill>
                <a:latin typeface="Noto Sans JP" pitchFamily="34" charset="0"/>
                <a:ea typeface="Noto Sans JP" pitchFamily="34" charset="-122"/>
                <a:cs typeface="Noto Sans JP" pitchFamily="34" charset="-120"/>
              </a:rPr>
              <a:t>秘密鍵はただのデータなので、ディスクを抜き取られると盗まれてしまう</a:t>
            </a:r>
            <a:endParaRPr lang="en-US" sz="1500" dirty="0"/>
          </a:p>
        </p:txBody>
      </p:sp>
      <p:sp>
        <p:nvSpPr>
          <p:cNvPr id="6" name="Shape 4"/>
          <p:cNvSpPr/>
          <p:nvPr/>
        </p:nvSpPr>
        <p:spPr>
          <a:xfrm>
            <a:off x="815975" y="2830171"/>
            <a:ext cx="5200650" cy="898752"/>
          </a:xfrm>
          <a:prstGeom prst="roundRect">
            <a:avLst>
              <a:gd name="adj" fmla="val 10951"/>
            </a:avLst>
          </a:prstGeom>
          <a:solidFill>
            <a:srgbClr val="FFFFFF"/>
          </a:solidFill>
          <a:ln w="6350">
            <a:solidFill>
              <a:srgbClr val="D9DEE7"/>
            </a:solidFill>
            <a:prstDash val="solid"/>
          </a:ln>
        </p:spPr>
      </p:sp>
      <p:sp>
        <p:nvSpPr>
          <p:cNvPr id="7" name="Text 5"/>
          <p:cNvSpPr/>
          <p:nvPr/>
        </p:nvSpPr>
        <p:spPr>
          <a:xfrm>
            <a:off x="994229" y="3008424"/>
            <a:ext cx="49894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鍵を外に出さない</a:t>
            </a:r>
            <a:endParaRPr lang="en-US" sz="1600" dirty="0"/>
          </a:p>
        </p:txBody>
      </p:sp>
      <p:sp>
        <p:nvSpPr>
          <p:cNvPr id="8" name="Text 6"/>
          <p:cNvSpPr/>
          <p:nvPr/>
        </p:nvSpPr>
        <p:spPr>
          <a:xfrm>
            <a:off x="994229" y="3303017"/>
            <a:ext cx="498946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鍵は中で生成・計算し、OS には渡さない</a:t>
            </a:r>
            <a:endParaRPr lang="en-US" sz="1300" dirty="0"/>
          </a:p>
        </p:txBody>
      </p:sp>
      <p:sp>
        <p:nvSpPr>
          <p:cNvPr id="9" name="Shape 7"/>
          <p:cNvSpPr/>
          <p:nvPr/>
        </p:nvSpPr>
        <p:spPr>
          <a:xfrm>
            <a:off x="6175375" y="2830171"/>
            <a:ext cx="5200650" cy="898752"/>
          </a:xfrm>
          <a:prstGeom prst="roundRect">
            <a:avLst>
              <a:gd name="adj" fmla="val 10951"/>
            </a:avLst>
          </a:prstGeom>
          <a:solidFill>
            <a:srgbClr val="FFFFFF"/>
          </a:solidFill>
          <a:ln w="6350">
            <a:solidFill>
              <a:srgbClr val="D9DEE7"/>
            </a:solidFill>
            <a:prstDash val="solid"/>
          </a:ln>
        </p:spPr>
      </p:sp>
      <p:sp>
        <p:nvSpPr>
          <p:cNvPr id="10" name="Text 8"/>
          <p:cNvSpPr/>
          <p:nvPr/>
        </p:nvSpPr>
        <p:spPr>
          <a:xfrm>
            <a:off x="6353629" y="3008424"/>
            <a:ext cx="49894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OS から独立</a:t>
            </a:r>
            <a:endParaRPr lang="en-US" sz="1600" dirty="0"/>
          </a:p>
        </p:txBody>
      </p:sp>
      <p:sp>
        <p:nvSpPr>
          <p:cNvPr id="11" name="Text 9"/>
          <p:cNvSpPr/>
          <p:nvPr/>
        </p:nvSpPr>
        <p:spPr>
          <a:xfrm>
            <a:off x="6353629" y="3303017"/>
            <a:ext cx="498946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OS が乗っ取られても鍵は抜き出しにくい</a:t>
            </a:r>
            <a:endParaRPr lang="en-US" sz="1300" dirty="0"/>
          </a:p>
        </p:txBody>
      </p:sp>
      <p:sp>
        <p:nvSpPr>
          <p:cNvPr id="12" name="Shape 10"/>
          <p:cNvSpPr/>
          <p:nvPr/>
        </p:nvSpPr>
        <p:spPr>
          <a:xfrm>
            <a:off x="815975" y="3887670"/>
            <a:ext cx="5200650" cy="898752"/>
          </a:xfrm>
          <a:prstGeom prst="roundRect">
            <a:avLst>
              <a:gd name="adj" fmla="val 10951"/>
            </a:avLst>
          </a:prstGeom>
          <a:solidFill>
            <a:srgbClr val="FFFFFF"/>
          </a:solidFill>
          <a:ln w="6350">
            <a:solidFill>
              <a:srgbClr val="D9DEE7"/>
            </a:solidFill>
            <a:prstDash val="solid"/>
          </a:ln>
        </p:spPr>
      </p:sp>
      <p:sp>
        <p:nvSpPr>
          <p:cNvPr id="13" name="Text 11"/>
          <p:cNvSpPr/>
          <p:nvPr/>
        </p:nvSpPr>
        <p:spPr>
          <a:xfrm>
            <a:off x="994229" y="4065922"/>
            <a:ext cx="49894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耐タンパ性</a:t>
            </a:r>
            <a:endParaRPr lang="en-US" sz="1600" dirty="0"/>
          </a:p>
        </p:txBody>
      </p:sp>
      <p:sp>
        <p:nvSpPr>
          <p:cNvPr id="14" name="Text 12"/>
          <p:cNvSpPr/>
          <p:nvPr/>
        </p:nvSpPr>
        <p:spPr>
          <a:xfrm>
            <a:off x="994229" y="4360521"/>
            <a:ext cx="498946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チップを開けて読む攻撃に耐える</a:t>
            </a:r>
            <a:endParaRPr lang="en-US" sz="1300" dirty="0"/>
          </a:p>
        </p:txBody>
      </p:sp>
      <p:sp>
        <p:nvSpPr>
          <p:cNvPr id="15" name="Shape 13"/>
          <p:cNvSpPr/>
          <p:nvPr/>
        </p:nvSpPr>
        <p:spPr>
          <a:xfrm>
            <a:off x="6175375" y="3887670"/>
            <a:ext cx="5200650" cy="898752"/>
          </a:xfrm>
          <a:prstGeom prst="roundRect">
            <a:avLst>
              <a:gd name="adj" fmla="val 10951"/>
            </a:avLst>
          </a:prstGeom>
          <a:solidFill>
            <a:srgbClr val="FFFFFF"/>
          </a:solidFill>
          <a:ln w="6350">
            <a:solidFill>
              <a:srgbClr val="D9DEE7"/>
            </a:solidFill>
            <a:prstDash val="solid"/>
          </a:ln>
        </p:spPr>
      </p:sp>
      <p:sp>
        <p:nvSpPr>
          <p:cNvPr id="16" name="Text 14"/>
          <p:cNvSpPr/>
          <p:nvPr/>
        </p:nvSpPr>
        <p:spPr>
          <a:xfrm>
            <a:off x="6353629" y="4065922"/>
            <a:ext cx="49894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例：BitLocker</a:t>
            </a:r>
            <a:endParaRPr lang="en-US" sz="1600" dirty="0"/>
          </a:p>
        </p:txBody>
      </p:sp>
      <p:sp>
        <p:nvSpPr>
          <p:cNvPr id="17" name="Text 15"/>
          <p:cNvSpPr/>
          <p:nvPr/>
        </p:nvSpPr>
        <p:spPr>
          <a:xfrm>
            <a:off x="6353629" y="4360521"/>
            <a:ext cx="498946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ディスクを暗号化し、鍵を TPM で守る</a:t>
            </a:r>
            <a:endParaRPr lang="en-US" sz="1300" dirty="0"/>
          </a:p>
        </p:txBody>
      </p:sp>
      <p:sp>
        <p:nvSpPr>
          <p:cNvPr id="18" name="Text 16"/>
          <p:cNvSpPr/>
          <p:nvPr/>
        </p:nvSpPr>
        <p:spPr>
          <a:xfrm>
            <a:off x="812800" y="5018199"/>
            <a:ext cx="1088339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Noto Sans JP" pitchFamily="34" charset="0"/>
                <a:ea typeface="Noto Sans JP" pitchFamily="34" charset="-122"/>
                <a:cs typeface="Noto Sans JP" pitchFamily="34" charset="-120"/>
              </a:rPr>
              <a:t>Windows 11 では TPM 2.0 がインストールの要件</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3／5　どこへの通信か</a:t>
            </a:r>
            <a:endParaRPr lang="en-US" sz="1400" dirty="0"/>
          </a:p>
        </p:txBody>
      </p:sp>
      <p:sp>
        <p:nvSpPr>
          <p:cNvPr id="3" name="Text 1"/>
          <p:cNvSpPr/>
          <p:nvPr>
            <p:ph type="title"/>
          </p:nvPr>
        </p:nvSpPr>
        <p:spPr>
          <a:xfrm>
            <a:off x="812800" y="12902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IAP：社内アプリへの入口を守る</a:t>
            </a:r>
            <a:endParaRPr lang="en-US" sz="3000" dirty="0"/>
          </a:p>
        </p:txBody>
      </p:sp>
      <p:sp>
        <p:nvSpPr>
          <p:cNvPr id="4" name="Text 2"/>
          <p:cNvSpPr/>
          <p:nvPr/>
        </p:nvSpPr>
        <p:spPr>
          <a:xfrm>
            <a:off x="812800" y="1817346"/>
            <a:ext cx="1088339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Noto Sans JP" pitchFamily="34" charset="0"/>
                <a:ea typeface="Noto Sans JP" pitchFamily="34" charset="-122"/>
                <a:cs typeface="Noto Sans JP" pitchFamily="34" charset="-120"/>
              </a:rPr>
              <a:t>Identity-Aware Proxy</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686" y="2323532"/>
          <a:ext cx="10555515" cy="1643743"/>
        </p:xfrm>
        <a:graphic>
          <a:graphicData uri="http://schemas.openxmlformats.org/drawingml/2006/table">
            <a:tbl>
              <a:tblPr/>
              <a:tblGrid>
                <a:gridCol w="2955544"/>
                <a:gridCol w="3799985"/>
                <a:gridCol w="3799985"/>
              </a:tblGrid>
              <a:tr h="410936">
                <a:tc>
                  <a:txBody>
                    <a:bodyPr/>
                    <a:lstStyle/>
                    <a:p>
                      <a:pPr indent="0" marL="0">
                        <a:lnSpc>
                          <a:spcPts val="2100"/>
                        </a:lnSpc>
                        <a:buNone/>
                      </a:pP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VPN</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2100"/>
                        </a:lnSpc>
                        <a:buNone/>
                      </a:pPr>
                      <a:r>
                        <a:rPr lang="en-US" sz="1500" b="1" dirty="0">
                          <a:solidFill>
                            <a:srgbClr val="14213D"/>
                          </a:solidFill>
                          <a:latin typeface="Noto Sans JP" pitchFamily="34" charset="0"/>
                          <a:ea typeface="Noto Sans JP" pitchFamily="34" charset="-122"/>
                          <a:cs typeface="Noto Sans JP" pitchFamily="34" charset="-120"/>
                        </a:rPr>
                        <a:t>IAP</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つながる範囲</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社内ネットワーク全体</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許可されたアプリだけ</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判断の単位</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VPN に入れるかどうか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アプリへのアクセスごと</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0936">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判断の材料</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VPN の認証</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Noto Sans JP" pitchFamily="34" charset="0"/>
                          <a:ea typeface="Noto Sans JP" pitchFamily="34" charset="-122"/>
                          <a:cs typeface="Noto Sans JP" pitchFamily="34" charset="-120"/>
                        </a:rPr>
                        <a:t>IAM の ID や端末の状態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6" name="Text 3"/>
          <p:cNvSpPr/>
          <p:nvPr/>
        </p:nvSpPr>
        <p:spPr>
          <a:xfrm>
            <a:off x="864870" y="4195874"/>
            <a:ext cx="10823703" cy="939800"/>
          </a:xfrm>
          <a:prstGeom prst="rect">
            <a:avLst/>
          </a:prstGeom>
          <a:noFill/>
          <a:ln/>
        </p:spPr>
        <p:txBody>
          <a:bodyPr wrap="square" lIns="0" tIns="0" rIns="0" bIns="0" rtlCol="0" anchor="t">
            <a:normAutofit/>
          </a:bodyPr>
          <a:lstStyle/>
          <a:p>
            <a:pPr algn="l" marL="201930" indent="-201930">
              <a:lnSpc>
                <a:spcPts val="2400"/>
              </a:lnSpc>
              <a:buSzPct val="100000"/>
              <a:buChar char="•"/>
            </a:pPr>
            <a:r>
              <a:rPr lang="en-US" sz="1500" b="1" dirty="0">
                <a:solidFill>
                  <a:srgbClr val="3D4A5C"/>
                </a:solidFill>
                <a:latin typeface="Noto Sans JP" pitchFamily="34" charset="0"/>
                <a:ea typeface="Noto Sans JP" pitchFamily="34" charset="-122"/>
                <a:cs typeface="Noto Sans JP" pitchFamily="34" charset="-120"/>
              </a:rPr>
              <a:t>横移動されにくい</a:t>
            </a:r>
            <a:r>
              <a:rPr lang="en-US" sz="1500" dirty="0">
                <a:solidFill>
                  <a:srgbClr val="3D4A5C"/>
                </a:solidFill>
                <a:latin typeface="Noto Sans JP" pitchFamily="34" charset="0"/>
                <a:ea typeface="Noto Sans JP" pitchFamily="34" charset="-122"/>
                <a:cs typeface="Noto Sans JP" pitchFamily="34" charset="-120"/>
              </a:rPr>
              <a:t>：乗っ取られても、許されたアプリにしか届かない</a:t>
            </a:r>
            <a:endParaRPr lang="en-US" sz="1500" dirty="0"/>
          </a:p>
          <a:p>
            <a:pPr algn="l" marL="201930" indent="-201930">
              <a:lnSpc>
                <a:spcPts val="2400"/>
              </a:lnSpc>
              <a:buSzPct val="100000"/>
              <a:buChar char="•"/>
            </a:pPr>
            <a:r>
              <a:rPr lang="en-US" sz="1500" b="1" dirty="0">
                <a:solidFill>
                  <a:srgbClr val="3D4A5C"/>
                </a:solidFill>
                <a:latin typeface="Noto Sans JP" pitchFamily="34" charset="0"/>
                <a:ea typeface="Noto Sans JP" pitchFamily="34" charset="-122"/>
                <a:cs typeface="Noto Sans JP" pitchFamily="34" charset="-120"/>
              </a:rPr>
              <a:t>穴あけ不要</a:t>
            </a:r>
            <a:r>
              <a:rPr lang="en-US" sz="1500" dirty="0">
                <a:solidFill>
                  <a:srgbClr val="3D4A5C"/>
                </a:solidFill>
                <a:latin typeface="Noto Sans JP" pitchFamily="34" charset="0"/>
                <a:ea typeface="Noto Sans JP" pitchFamily="34" charset="-122"/>
                <a:cs typeface="Noto Sans JP" pitchFamily="34" charset="-120"/>
              </a:rPr>
              <a:t>：社内のコネクタからクラウドの IAP へ接続を張るので、外からの受信を許可しなくてよい</a:t>
            </a:r>
            <a:endParaRPr lang="en-US" sz="1500" dirty="0"/>
          </a:p>
          <a:p>
            <a:pPr algn="l" marL="201930" indent="-201930">
              <a:lnSpc>
                <a:spcPts val="2400"/>
              </a:lnSpc>
              <a:buSzPct val="100000"/>
              <a:buChar char="•"/>
            </a:pPr>
            <a:r>
              <a:rPr lang="en-US" sz="1500" b="1" dirty="0">
                <a:solidFill>
                  <a:srgbClr val="3D4A5C"/>
                </a:solidFill>
                <a:latin typeface="Noto Sans JP" pitchFamily="34" charset="0"/>
                <a:ea typeface="Noto Sans JP" pitchFamily="34" charset="-122"/>
                <a:cs typeface="Noto Sans JP" pitchFamily="34" charset="-120"/>
              </a:rPr>
              <a:t>柔軟</a:t>
            </a:r>
            <a:r>
              <a:rPr lang="en-US" sz="1500" dirty="0">
                <a:solidFill>
                  <a:srgbClr val="3D4A5C"/>
                </a:solidFill>
                <a:latin typeface="Noto Sans JP" pitchFamily="34" charset="0"/>
                <a:ea typeface="Noto Sans JP" pitchFamily="34" charset="-122"/>
                <a:cs typeface="Noto Sans JP" pitchFamily="34" charset="-120"/>
              </a:rPr>
              <a:t>：クラウドサービスなので、通信が1か所に集中しにくい</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3／5　どこへの通信か</a:t>
            </a:r>
            <a:endParaRPr lang="en-US" sz="1400" dirty="0"/>
          </a:p>
        </p:txBody>
      </p:sp>
      <p:sp>
        <p:nvSpPr>
          <p:cNvPr id="3" name="Text 1"/>
          <p:cNvSpPr/>
          <p:nvPr>
            <p:ph type="title"/>
          </p:nvPr>
        </p:nvSpPr>
        <p:spPr>
          <a:xfrm>
            <a:off x="812800" y="12648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SWG：インターネットへの出口を守る</a:t>
            </a:r>
            <a:endParaRPr lang="en-US" sz="3000" dirty="0"/>
          </a:p>
        </p:txBody>
      </p:sp>
      <p:sp>
        <p:nvSpPr>
          <p:cNvPr id="4" name="Text 2"/>
          <p:cNvSpPr/>
          <p:nvPr/>
        </p:nvSpPr>
        <p:spPr>
          <a:xfrm>
            <a:off x="812800" y="1791946"/>
            <a:ext cx="1088339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Noto Sans JP" pitchFamily="34" charset="0"/>
                <a:ea typeface="Noto Sans JP" pitchFamily="34" charset="-122"/>
                <a:cs typeface="Noto Sans JP" pitchFamily="34" charset="-120"/>
              </a:rPr>
              <a:t>Secure Web Gateway</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686" y="2272732"/>
          <a:ext cx="10555515" cy="1536700"/>
        </p:xfrm>
        <a:graphic>
          <a:graphicData uri="http://schemas.openxmlformats.org/drawingml/2006/table">
            <a:tbl>
              <a:tblPr/>
              <a:tblGrid>
                <a:gridCol w="2955544"/>
                <a:gridCol w="3799985"/>
                <a:gridCol w="3799985"/>
              </a:tblGrid>
              <a:tr h="384175">
                <a:tc>
                  <a:txBody>
                    <a:bodyPr/>
                    <a:lstStyle/>
                    <a:p>
                      <a:pPr indent="0" marL="0">
                        <a:lnSpc>
                          <a:spcPts val="1960"/>
                        </a:lnSpc>
                        <a:buNone/>
                      </a:pP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社内のプロキシ</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c>
                  <a:txBody>
                    <a:bodyPr/>
                    <a:lstStyle/>
                    <a:p>
                      <a:pPr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SWG</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6BAC1"/>
                      </a:solidFill>
                      <a:prstDash val="solid"/>
                      <a:round/>
                      <a:headEnd type="none" w="med" len="med"/>
                      <a:tailEnd type="none" w="med" len="med"/>
                    </a:lnL>
                    <a:lnR w="12700" cap="flat" cmpd="sng" algn="ctr">
                      <a:solidFill>
                        <a:srgbClr val="B6BA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6BAC1"/>
                      </a:solidFill>
                      <a:prstDash val="solid"/>
                      <a:round/>
                      <a:headEnd type="none" w="med" len="med"/>
                      <a:tailEnd type="none" w="med" len="med"/>
                    </a:lnB>
                    <a:solidFill>
                      <a:srgbClr val="E4E9F2"/>
                    </a:solidFill>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置き場所</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社内ネットワークの出口</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クラウド</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6BA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リモートの社員</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VPN で社内を経由</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社内を経由せず直接</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4175">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利用者が増えたら</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機器の増強が必要</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Noto Sans JP" pitchFamily="34" charset="0"/>
                          <a:ea typeface="Noto Sans JP" pitchFamily="34" charset="-122"/>
                          <a:cs typeface="Noto Sans JP" pitchFamily="34" charset="-120"/>
                        </a:rPr>
                        <a:t>クラウド側で広げやすい</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6" name="Text 3"/>
          <p:cNvSpPr/>
          <p:nvPr/>
        </p:nvSpPr>
        <p:spPr>
          <a:xfrm>
            <a:off x="812800" y="4012629"/>
            <a:ext cx="10883393"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Noto Sans JP" pitchFamily="34" charset="0"/>
                <a:ea typeface="Noto Sans JP" pitchFamily="34" charset="-122"/>
                <a:cs typeface="Noto Sans JP" pitchFamily="34" charset="-120"/>
              </a:rPr>
              <a:t>できること：許可した FQDN 以外を遮断、アップロードの遮断、マルウェア対策、HTTPS の中身の検査</a:t>
            </a:r>
            <a:endParaRPr lang="en-US" sz="1400" dirty="0"/>
          </a:p>
        </p:txBody>
      </p:sp>
      <p:sp>
        <p:nvSpPr>
          <p:cNvPr id="7" name="Text 4"/>
          <p:cNvSpPr/>
          <p:nvPr/>
        </p:nvSpPr>
        <p:spPr>
          <a:xfrm>
            <a:off x="812800" y="4482529"/>
            <a:ext cx="10566401" cy="520700"/>
          </a:xfrm>
          <a:prstGeom prst="roundRect">
            <a:avLst>
              <a:gd name="adj" fmla="val 14634"/>
            </a:avLst>
          </a:prstGeom>
          <a:solidFill>
            <a:srgbClr val="E4E9F2"/>
          </a:solidFill>
          <a:ln/>
        </p:spPr>
        <p:txBody>
          <a:bodyPr wrap="square" lIns="155482" tIns="104682" rIns="0" bIns="79282" rtlCol="0" anchor="t">
            <a:normAutofit/>
          </a:bodyPr>
          <a:lstStyle/>
          <a:p>
            <a:pPr algn="l" indent="0" marL="0">
              <a:lnSpc>
                <a:spcPts val="2100"/>
              </a:lnSpc>
              <a:buNone/>
            </a:pPr>
            <a:r>
              <a:rPr lang="en-US" sz="1400" dirty="0">
                <a:solidFill>
                  <a:srgbClr val="14213D"/>
                </a:solidFill>
                <a:latin typeface="Noto Sans JP" pitchFamily="34" charset="0"/>
                <a:ea typeface="Noto Sans JP" pitchFamily="34" charset="-122"/>
                <a:cs typeface="Noto Sans JP" pitchFamily="34" charset="-120"/>
              </a:rPr>
              <a:t>IAP は社内アプリへ、SWG はインターネットへ。守る通信の向きが逆</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4／5　何のデータか</a:t>
            </a:r>
            <a:endParaRPr lang="en-US" sz="1400" dirty="0"/>
          </a:p>
        </p:txBody>
      </p:sp>
      <p:sp>
        <p:nvSpPr>
          <p:cNvPr id="3" name="Text 1"/>
          <p:cNvSpPr/>
          <p:nvPr>
            <p:ph type="title"/>
          </p:nvPr>
        </p:nvSpPr>
        <p:spPr>
          <a:xfrm>
            <a:off x="812800" y="1290296"/>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DLP：機密データの持ち出しを止める</a:t>
            </a:r>
            <a:endParaRPr lang="en-US" sz="3000" dirty="0"/>
          </a:p>
        </p:txBody>
      </p:sp>
      <p:sp>
        <p:nvSpPr>
          <p:cNvPr id="4" name="Text 2"/>
          <p:cNvSpPr/>
          <p:nvPr/>
        </p:nvSpPr>
        <p:spPr>
          <a:xfrm>
            <a:off x="812800" y="1817346"/>
            <a:ext cx="1088339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Noto Sans JP" pitchFamily="34" charset="0"/>
                <a:ea typeface="Noto Sans JP" pitchFamily="34" charset="-122"/>
                <a:cs typeface="Noto Sans JP" pitchFamily="34" charset="-120"/>
              </a:rPr>
              <a:t>Data Loss Prevention</a:t>
            </a:r>
            <a:endParaRPr lang="en-US" sz="1500" dirty="0"/>
          </a:p>
        </p:txBody>
      </p:sp>
      <p:sp>
        <p:nvSpPr>
          <p:cNvPr id="5" name="Text 3"/>
          <p:cNvSpPr/>
          <p:nvPr/>
        </p:nvSpPr>
        <p:spPr>
          <a:xfrm>
            <a:off x="812800" y="2312646"/>
            <a:ext cx="10883393" cy="67310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3D4A5C"/>
                </a:solidFill>
                <a:latin typeface="Noto Sans JP" pitchFamily="34" charset="0"/>
                <a:ea typeface="Noto Sans JP" pitchFamily="34" charset="-122"/>
                <a:cs typeface="Noto Sans JP" pitchFamily="34" charset="-120"/>
              </a:rPr>
              <a:t>機密データが組織の外に出ていくのを見張って止める。漏えいは正規の利用者のうっかりや持ち出しからも起こるので、</a:t>
            </a:r>
            <a:r>
              <a:rPr lang="en-US" sz="1700" b="1" dirty="0">
                <a:solidFill>
                  <a:srgbClr val="3D4A5C"/>
                </a:solidFill>
                <a:latin typeface="Noto Sans JP" pitchFamily="34" charset="0"/>
                <a:ea typeface="Noto Sans JP" pitchFamily="34" charset="-122"/>
                <a:cs typeface="Noto Sans JP" pitchFamily="34" charset="-120"/>
              </a:rPr>
              <a:t>データそのもの</a:t>
            </a:r>
            <a:r>
              <a:rPr lang="en-US" sz="1700" dirty="0">
                <a:solidFill>
                  <a:srgbClr val="3D4A5C"/>
                </a:solidFill>
                <a:latin typeface="Noto Sans JP" pitchFamily="34" charset="0"/>
                <a:ea typeface="Noto Sans JP" pitchFamily="34" charset="-122"/>
                <a:cs typeface="Noto Sans JP" pitchFamily="34" charset="-120"/>
              </a:rPr>
              <a:t>に注目する</a:t>
            </a:r>
            <a:endParaRPr lang="en-US" sz="1700" dirty="0"/>
          </a:p>
        </p:txBody>
      </p:sp>
      <p:sp>
        <p:nvSpPr>
          <p:cNvPr id="6" name="Text 4"/>
          <p:cNvSpPr/>
          <p:nvPr/>
        </p:nvSpPr>
        <p:spPr>
          <a:xfrm>
            <a:off x="812800" y="3188946"/>
            <a:ext cx="1088339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D4A5C"/>
                </a:solidFill>
                <a:latin typeface="Noto Sans JP" pitchFamily="34" charset="0"/>
                <a:ea typeface="Noto Sans JP" pitchFamily="34" charset="-122"/>
                <a:cs typeface="Noto Sans JP" pitchFamily="34" charset="-120"/>
              </a:rPr>
              <a:t>機密の見分け方：ラベル（「社外秘」など）、中身の検査（カード番号などのパターン）</a:t>
            </a:r>
            <a:endParaRPr lang="en-US" sz="1500" dirty="0"/>
          </a:p>
        </p:txBody>
      </p:sp>
      <p:sp>
        <p:nvSpPr>
          <p:cNvPr id="7" name="Shape 5"/>
          <p:cNvSpPr/>
          <p:nvPr/>
        </p:nvSpPr>
        <p:spPr>
          <a:xfrm>
            <a:off x="815975" y="3706471"/>
            <a:ext cx="5175250" cy="1367405"/>
          </a:xfrm>
          <a:prstGeom prst="roundRect">
            <a:avLst>
              <a:gd name="adj" fmla="val 7198"/>
            </a:avLst>
          </a:prstGeom>
          <a:solidFill>
            <a:srgbClr val="FFFFFF"/>
          </a:solidFill>
          <a:ln w="6350">
            <a:solidFill>
              <a:srgbClr val="D9DEE7"/>
            </a:solidFill>
            <a:prstDash val="solid"/>
          </a:ln>
        </p:spPr>
      </p:sp>
      <p:sp>
        <p:nvSpPr>
          <p:cNvPr id="8" name="Text 6"/>
          <p:cNvSpPr/>
          <p:nvPr/>
        </p:nvSpPr>
        <p:spPr>
          <a:xfrm>
            <a:off x="1045029" y="3935530"/>
            <a:ext cx="4858657"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エージェント型</a:t>
            </a:r>
            <a:endParaRPr lang="en-US" sz="1800" dirty="0"/>
          </a:p>
        </p:txBody>
      </p:sp>
      <p:sp>
        <p:nvSpPr>
          <p:cNvPr id="9" name="Text 7"/>
          <p:cNvSpPr/>
          <p:nvPr/>
        </p:nvSpPr>
        <p:spPr>
          <a:xfrm>
            <a:off x="1045029" y="4311421"/>
            <a:ext cx="485865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Noto Sans JP" pitchFamily="34" charset="0"/>
                <a:ea typeface="Noto Sans JP" pitchFamily="34" charset="-122"/>
                <a:cs typeface="Noto Sans JP" pitchFamily="34" charset="-120"/>
              </a:rPr>
              <a:t>端末上で、USB メモリへのコピー・印刷・アップロードを止める</a:t>
            </a:r>
            <a:endParaRPr lang="en-US" sz="1400" dirty="0"/>
          </a:p>
        </p:txBody>
      </p:sp>
      <p:sp>
        <p:nvSpPr>
          <p:cNvPr id="10" name="Shape 8"/>
          <p:cNvSpPr/>
          <p:nvPr/>
        </p:nvSpPr>
        <p:spPr>
          <a:xfrm>
            <a:off x="6200775" y="3706471"/>
            <a:ext cx="5175250" cy="1367405"/>
          </a:xfrm>
          <a:prstGeom prst="roundRect">
            <a:avLst>
              <a:gd name="adj" fmla="val 7198"/>
            </a:avLst>
          </a:prstGeom>
          <a:solidFill>
            <a:srgbClr val="FFFFFF"/>
          </a:solidFill>
          <a:ln w="6350">
            <a:solidFill>
              <a:srgbClr val="D9DEE7"/>
            </a:solidFill>
            <a:prstDash val="solid"/>
          </a:ln>
        </p:spPr>
      </p:sp>
      <p:sp>
        <p:nvSpPr>
          <p:cNvPr id="11" name="Text 9"/>
          <p:cNvSpPr/>
          <p:nvPr/>
        </p:nvSpPr>
        <p:spPr>
          <a:xfrm>
            <a:off x="6429829" y="3935530"/>
            <a:ext cx="4858657"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クラウド型</a:t>
            </a:r>
            <a:endParaRPr lang="en-US" sz="1800" dirty="0"/>
          </a:p>
        </p:txBody>
      </p:sp>
      <p:sp>
        <p:nvSpPr>
          <p:cNvPr id="12" name="Text 10"/>
          <p:cNvSpPr/>
          <p:nvPr/>
        </p:nvSpPr>
        <p:spPr>
          <a:xfrm>
            <a:off x="6429829" y="4311421"/>
            <a:ext cx="485865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Noto Sans JP" pitchFamily="34" charset="0"/>
                <a:ea typeface="Noto Sans JP" pitchFamily="34" charset="-122"/>
                <a:cs typeface="Noto Sans JP" pitchFamily="34" charset="-120"/>
              </a:rPr>
              <a:t>クラウドストレージでの社外共有などを止める。SWG に組み込まれていることも多い</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 5／5　見張る・対応する</a:t>
            </a:r>
            <a:endParaRPr lang="en-US" sz="1400" dirty="0"/>
          </a:p>
        </p:txBody>
      </p:sp>
      <p:sp>
        <p:nvSpPr>
          <p:cNvPr id="3" name="Text 1"/>
          <p:cNvSpPr/>
          <p:nvPr>
            <p:ph type="title"/>
          </p:nvPr>
        </p:nvSpPr>
        <p:spPr>
          <a:xfrm>
            <a:off x="812800" y="1264903"/>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SIEM と SOAR：見張って、自動で対応する</a:t>
            </a:r>
            <a:endParaRPr lang="en-US" sz="3000" dirty="0"/>
          </a:p>
        </p:txBody>
      </p:sp>
      <p:sp>
        <p:nvSpPr>
          <p:cNvPr id="4" name="Text 2"/>
          <p:cNvSpPr/>
          <p:nvPr/>
        </p:nvSpPr>
        <p:spPr>
          <a:xfrm>
            <a:off x="812800" y="1791953"/>
            <a:ext cx="10883393"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Noto Sans JP" pitchFamily="34" charset="0"/>
                <a:ea typeface="Noto Sans JP" pitchFamily="34" charset="-122"/>
                <a:cs typeface="Noto Sans JP" pitchFamily="34" charset="-120"/>
              </a:rPr>
              <a:t>Security Information and Event Management ／ Security Orchestration, Automation and Response</a:t>
            </a:r>
            <a:endParaRPr lang="en-US" sz="1300" dirty="0"/>
          </a:p>
        </p:txBody>
      </p:sp>
      <p:sp>
        <p:nvSpPr>
          <p:cNvPr id="5" name="Shape 3"/>
          <p:cNvSpPr/>
          <p:nvPr/>
        </p:nvSpPr>
        <p:spPr>
          <a:xfrm>
            <a:off x="815975" y="2229421"/>
            <a:ext cx="5175250" cy="2497705"/>
          </a:xfrm>
          <a:prstGeom prst="roundRect">
            <a:avLst>
              <a:gd name="adj" fmla="val 3941"/>
            </a:avLst>
          </a:prstGeom>
          <a:solidFill>
            <a:srgbClr val="FFFFFF"/>
          </a:solidFill>
          <a:ln w="6350">
            <a:solidFill>
              <a:srgbClr val="D9DEE7"/>
            </a:solidFill>
            <a:prstDash val="solid"/>
          </a:ln>
        </p:spPr>
      </p:sp>
      <p:sp>
        <p:nvSpPr>
          <p:cNvPr id="6" name="Text 4"/>
          <p:cNvSpPr/>
          <p:nvPr/>
        </p:nvSpPr>
        <p:spPr>
          <a:xfrm>
            <a:off x="1045029" y="2458479"/>
            <a:ext cx="4858657"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SIEM：見つける</a:t>
            </a:r>
            <a:endParaRPr lang="en-US" sz="1800" dirty="0"/>
          </a:p>
        </p:txBody>
      </p:sp>
      <p:sp>
        <p:nvSpPr>
          <p:cNvPr id="7" name="Text 5"/>
          <p:cNvSpPr/>
          <p:nvPr/>
        </p:nvSpPr>
        <p:spPr>
          <a:xfrm>
            <a:off x="1111023" y="2834370"/>
            <a:ext cx="4785043" cy="1092200"/>
          </a:xfrm>
          <a:prstGeom prst="rect">
            <a:avLst/>
          </a:prstGeom>
          <a:noFill/>
          <a:ln/>
        </p:spPr>
        <p:txBody>
          <a:bodyPr wrap="square" lIns="0" tIns="0" rIns="0" bIns="0" rtlCol="0" anchor="t">
            <a:normAutofit/>
          </a:bodyPr>
          <a:lstStyle/>
          <a:p>
            <a:pPr algn="l" marL="188005" indent="-188005">
              <a:lnSpc>
                <a:spcPts val="2100"/>
              </a:lnSpc>
              <a:buSzPct val="100000"/>
              <a:buFontTx/>
              <a:buAutoNum type="arabicPeriod" startAt="1"/>
            </a:pPr>
            <a:r>
              <a:rPr lang="en-US" sz="1400" dirty="0">
                <a:solidFill>
                  <a:srgbClr val="3D4A5C"/>
                </a:solidFill>
                <a:latin typeface="Noto Sans JP" pitchFamily="34" charset="0"/>
                <a:ea typeface="Noto Sans JP" pitchFamily="34" charset="-122"/>
                <a:cs typeface="Noto Sans JP" pitchFamily="34" charset="-120"/>
              </a:rPr>
              <a:t>各所のログを集める</a:t>
            </a:r>
            <a:endParaRPr lang="en-US" sz="1400" dirty="0"/>
          </a:p>
          <a:p>
            <a:pPr algn="l" marL="188005" indent="-188005">
              <a:lnSpc>
                <a:spcPts val="2100"/>
              </a:lnSpc>
              <a:buSzPct val="100000"/>
              <a:buFontTx/>
              <a:buAutoNum type="arabicPeriod" startAt="1"/>
            </a:pPr>
            <a:r>
              <a:rPr lang="en-US" sz="1400" dirty="0">
                <a:solidFill>
                  <a:srgbClr val="3D4A5C"/>
                </a:solidFill>
                <a:latin typeface="Noto Sans JP" pitchFamily="34" charset="0"/>
                <a:ea typeface="Noto Sans JP" pitchFamily="34" charset="-122"/>
                <a:cs typeface="Noto Sans JP" pitchFamily="34" charset="-120"/>
              </a:rPr>
              <a:t>書き方をそろえる（正規化）</a:t>
            </a:r>
            <a:endParaRPr lang="en-US" sz="1400" dirty="0"/>
          </a:p>
          <a:p>
            <a:pPr algn="l" marL="188005" indent="-188005">
              <a:lnSpc>
                <a:spcPts val="2100"/>
              </a:lnSpc>
              <a:buSzPct val="100000"/>
              <a:buFontTx/>
              <a:buAutoNum type="arabicPeriod" startAt="1"/>
            </a:pPr>
            <a:r>
              <a:rPr lang="en-US" sz="1400" dirty="0">
                <a:solidFill>
                  <a:srgbClr val="3D4A5C"/>
                </a:solidFill>
                <a:latin typeface="Noto Sans JP" pitchFamily="34" charset="0"/>
                <a:ea typeface="Noto Sans JP" pitchFamily="34" charset="-122"/>
                <a:cs typeface="Noto Sans JP" pitchFamily="34" charset="-120"/>
              </a:rPr>
              <a:t>突き合わせて異常を見つける</a:t>
            </a:r>
            <a:endParaRPr lang="en-US" sz="1400" dirty="0"/>
          </a:p>
          <a:p>
            <a:pPr algn="l" marL="188005" indent="-188005">
              <a:lnSpc>
                <a:spcPts val="2100"/>
              </a:lnSpc>
              <a:buSzPct val="100000"/>
              <a:buFontTx/>
              <a:buAutoNum type="arabicPeriod" startAt="1"/>
            </a:pPr>
            <a:r>
              <a:rPr lang="en-US" sz="1400" dirty="0">
                <a:solidFill>
                  <a:srgbClr val="3D4A5C"/>
                </a:solidFill>
                <a:latin typeface="Noto Sans JP" pitchFamily="34" charset="0"/>
                <a:ea typeface="Noto Sans JP" pitchFamily="34" charset="-122"/>
                <a:cs typeface="Noto Sans JP" pitchFamily="34" charset="-120"/>
              </a:rPr>
              <a:t>通知し、可視化する</a:t>
            </a:r>
            <a:endParaRPr lang="en-US" sz="1400" dirty="0"/>
          </a:p>
        </p:txBody>
      </p:sp>
      <p:sp>
        <p:nvSpPr>
          <p:cNvPr id="8" name="Text 6"/>
          <p:cNvSpPr/>
          <p:nvPr/>
        </p:nvSpPr>
        <p:spPr>
          <a:xfrm>
            <a:off x="1045029" y="4002770"/>
            <a:ext cx="485865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例：見慣れない国からのログインの直後に、大量のダウンロード</a:t>
            </a:r>
            <a:endParaRPr lang="en-US" sz="1300" dirty="0"/>
          </a:p>
        </p:txBody>
      </p:sp>
      <p:sp>
        <p:nvSpPr>
          <p:cNvPr id="9" name="Shape 7"/>
          <p:cNvSpPr/>
          <p:nvPr/>
        </p:nvSpPr>
        <p:spPr>
          <a:xfrm>
            <a:off x="6200775" y="2229421"/>
            <a:ext cx="5175250" cy="2497705"/>
          </a:xfrm>
          <a:prstGeom prst="roundRect">
            <a:avLst>
              <a:gd name="adj" fmla="val 3941"/>
            </a:avLst>
          </a:prstGeom>
          <a:solidFill>
            <a:srgbClr val="FFFFFF"/>
          </a:solidFill>
          <a:ln w="6350">
            <a:solidFill>
              <a:srgbClr val="D9DEE7"/>
            </a:solidFill>
            <a:prstDash val="solid"/>
          </a:ln>
        </p:spPr>
      </p:sp>
      <p:sp>
        <p:nvSpPr>
          <p:cNvPr id="10" name="Text 8"/>
          <p:cNvSpPr/>
          <p:nvPr/>
        </p:nvSpPr>
        <p:spPr>
          <a:xfrm>
            <a:off x="6429829" y="2458479"/>
            <a:ext cx="4858657"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457C5"/>
                </a:solidFill>
                <a:latin typeface="Noto Sans JP" pitchFamily="34" charset="0"/>
                <a:ea typeface="Noto Sans JP" pitchFamily="34" charset="-122"/>
                <a:cs typeface="Noto Sans JP" pitchFamily="34" charset="-120"/>
              </a:rPr>
              <a:t>SOAR：自動で対応する</a:t>
            </a:r>
            <a:endParaRPr lang="en-US" sz="1800" dirty="0"/>
          </a:p>
        </p:txBody>
      </p:sp>
      <p:sp>
        <p:nvSpPr>
          <p:cNvPr id="11" name="Text 9"/>
          <p:cNvSpPr/>
          <p:nvPr/>
        </p:nvSpPr>
        <p:spPr>
          <a:xfrm>
            <a:off x="6429829" y="2834370"/>
            <a:ext cx="485865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Noto Sans JP" pitchFamily="34" charset="0"/>
                <a:ea typeface="Noto Sans JP" pitchFamily="34" charset="-122"/>
                <a:cs typeface="Noto Sans JP" pitchFamily="34" charset="-120"/>
              </a:rPr>
              <a:t>決めておいた手順（プレイブック）に沿って、複数の製品をまとめて操作する</a:t>
            </a:r>
            <a:endParaRPr lang="en-US" sz="1400" dirty="0"/>
          </a:p>
        </p:txBody>
      </p:sp>
      <p:sp>
        <p:nvSpPr>
          <p:cNvPr id="12" name="Text 10"/>
          <p:cNvSpPr/>
          <p:nvPr/>
        </p:nvSpPr>
        <p:spPr>
          <a:xfrm>
            <a:off x="6502473" y="3469370"/>
            <a:ext cx="4778393" cy="768350"/>
          </a:xfrm>
          <a:prstGeom prst="rect">
            <a:avLst/>
          </a:prstGeom>
          <a:noFill/>
          <a:ln/>
        </p:spPr>
        <p:txBody>
          <a:bodyPr wrap="square" lIns="0" tIns="0" rIns="0" bIns="0" rtlCol="0" anchor="t">
            <a:normAutofit/>
          </a:bodyPr>
          <a:lstStyle/>
          <a:p>
            <a:pPr algn="l" marL="181356" indent="-181356">
              <a:lnSpc>
                <a:spcPts val="1950"/>
              </a:lnSpc>
              <a:buSzPct val="100000"/>
              <a:buChar char="•"/>
            </a:pPr>
            <a:r>
              <a:rPr lang="en-US" sz="1300" dirty="0">
                <a:solidFill>
                  <a:srgbClr val="3D4A5C"/>
                </a:solidFill>
                <a:latin typeface="Noto Sans JP" pitchFamily="34" charset="0"/>
                <a:ea typeface="Noto Sans JP" pitchFamily="34" charset="-122"/>
                <a:cs typeface="Noto Sans JP" pitchFamily="34" charset="-120"/>
              </a:rPr>
              <a:t>感染の疑い → 端末をネットワークから切り離す</a:t>
            </a:r>
            <a:endParaRPr lang="en-US" sz="1300" dirty="0"/>
          </a:p>
          <a:p>
            <a:pPr algn="l" marL="181356" indent="-181356">
              <a:lnSpc>
                <a:spcPts val="1950"/>
              </a:lnSpc>
              <a:buSzPct val="100000"/>
              <a:buChar char="•"/>
            </a:pPr>
            <a:r>
              <a:rPr lang="en-US" sz="1300" dirty="0">
                <a:solidFill>
                  <a:srgbClr val="3D4A5C"/>
                </a:solidFill>
                <a:latin typeface="Noto Sans JP" pitchFamily="34" charset="0"/>
                <a:ea typeface="Noto Sans JP" pitchFamily="34" charset="-122"/>
                <a:cs typeface="Noto Sans JP" pitchFamily="34" charset="-120"/>
              </a:rPr>
              <a:t>乗っ取りの疑い → IAM でアカウントを止める</a:t>
            </a:r>
            <a:endParaRPr lang="en-US" sz="1300" dirty="0"/>
          </a:p>
          <a:p>
            <a:pPr algn="l" marL="181356" indent="-181356">
              <a:lnSpc>
                <a:spcPts val="1950"/>
              </a:lnSpc>
              <a:buSzPct val="100000"/>
              <a:buChar char="•"/>
            </a:pPr>
            <a:r>
              <a:rPr lang="en-US" sz="1300" dirty="0">
                <a:solidFill>
                  <a:srgbClr val="3D4A5C"/>
                </a:solidFill>
                <a:latin typeface="Noto Sans JP" pitchFamily="34" charset="0"/>
                <a:ea typeface="Noto Sans JP" pitchFamily="34" charset="-122"/>
                <a:cs typeface="Noto Sans JP" pitchFamily="34" charset="-120"/>
              </a:rPr>
              <a:t>怪しい通信先 → ファイアウォールや SWG で遮断</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355600"/>
            <a:ext cx="10883393" cy="438150"/>
          </a:xfrm>
          <a:prstGeom prst="rect">
            <a:avLst/>
          </a:prstGeom>
          <a:noFill/>
          <a:ln/>
        </p:spPr>
        <p:txBody>
          <a:bodyPr wrap="square" lIns="0" tIns="0" rIns="0" bIns="0" rtlCol="0" anchor="t">
            <a:normAutofit/>
          </a:bodyPr>
          <a:lstStyle/>
          <a:p>
            <a:pPr algn="l" indent="0" marL="0">
              <a:lnSpc>
                <a:spcPts val="3250"/>
              </a:lnSpc>
              <a:buNone/>
            </a:pPr>
            <a:r>
              <a:rPr lang="en-US" sz="2600" b="1" i="0" dirty="0">
                <a:solidFill>
                  <a:srgbClr val="14213D"/>
                </a:solidFill>
                <a:latin typeface="Noto Sans JP" pitchFamily="34" charset="0"/>
                <a:ea typeface="Noto Sans JP" pitchFamily="34" charset="-122"/>
                <a:cs typeface="Noto Sans JP" pitchFamily="34" charset="-120"/>
              </a:rPr>
              <a:t>全体像：構成要素はどこに置かれるか</a:t>
            </a:r>
            <a:endParaRPr lang="en-US" sz="2600" dirty="0"/>
          </a:p>
        </p:txBody>
      </p:sp>
      <p:sp>
        <p:nvSpPr>
          <p:cNvPr id="3" name="Text 1"/>
          <p:cNvSpPr/>
          <p:nvPr/>
        </p:nvSpPr>
        <p:spPr>
          <a:xfrm>
            <a:off x="812800" y="838200"/>
            <a:ext cx="10883393" cy="25649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Noto Sans JP" pitchFamily="34" charset="0"/>
                <a:ea typeface="Noto Sans JP" pitchFamily="34" charset="-122"/>
                <a:cs typeface="Noto Sans JP" pitchFamily="34" charset="-120"/>
              </a:rPr>
              <a:t>リモートの社員が、社内アプリ・インターネット・SaaS を安全に使う構成の例</a:t>
            </a:r>
            <a:endParaRPr lang="en-US" sz="1300" dirty="0"/>
          </a:p>
        </p:txBody>
      </p:sp>
      <p:sp>
        <p:nvSpPr>
          <p:cNvPr id="4" name="Shape 2"/>
          <p:cNvSpPr/>
          <p:nvPr/>
        </p:nvSpPr>
        <p:spPr>
          <a:xfrm>
            <a:off x="812800" y="1270000"/>
            <a:ext cx="2032000" cy="4826000"/>
          </a:xfrm>
          <a:prstGeom prst="roundRect">
            <a:avLst>
              <a:gd name="adj" fmla="val 6250"/>
            </a:avLst>
          </a:prstGeom>
          <a:solidFill>
            <a:srgbClr val="E9EDF3"/>
          </a:solidFill>
          <a:ln/>
        </p:spPr>
      </p:sp>
      <p:sp>
        <p:nvSpPr>
          <p:cNvPr id="5" name="Shape 3"/>
          <p:cNvSpPr/>
          <p:nvPr/>
        </p:nvSpPr>
        <p:spPr>
          <a:xfrm>
            <a:off x="3251200" y="1270000"/>
            <a:ext cx="4775200" cy="3556000"/>
          </a:xfrm>
          <a:prstGeom prst="roundRect">
            <a:avLst>
              <a:gd name="adj" fmla="val 3571"/>
            </a:avLst>
          </a:prstGeom>
          <a:solidFill>
            <a:srgbClr val="DCE7FA"/>
          </a:solidFill>
          <a:ln/>
        </p:spPr>
      </p:sp>
      <p:sp>
        <p:nvSpPr>
          <p:cNvPr id="6" name="Shape 4"/>
          <p:cNvSpPr/>
          <p:nvPr/>
        </p:nvSpPr>
        <p:spPr>
          <a:xfrm>
            <a:off x="8432800" y="1270000"/>
            <a:ext cx="2946400" cy="2286000"/>
          </a:xfrm>
          <a:prstGeom prst="roundRect">
            <a:avLst>
              <a:gd name="adj" fmla="val 5556"/>
            </a:avLst>
          </a:prstGeom>
          <a:solidFill>
            <a:srgbClr val="E6E8EB"/>
          </a:solidFill>
          <a:ln/>
        </p:spPr>
      </p:sp>
      <p:sp>
        <p:nvSpPr>
          <p:cNvPr id="7" name="Shape 5"/>
          <p:cNvSpPr/>
          <p:nvPr/>
        </p:nvSpPr>
        <p:spPr>
          <a:xfrm>
            <a:off x="8432800" y="3746500"/>
            <a:ext cx="2946400" cy="2349500"/>
          </a:xfrm>
          <a:prstGeom prst="roundRect">
            <a:avLst>
              <a:gd name="adj" fmla="val 5405"/>
            </a:avLst>
          </a:prstGeom>
          <a:solidFill>
            <a:srgbClr val="F1E8D8"/>
          </a:solidFill>
          <a:ln/>
        </p:spPr>
      </p:sp>
      <p:sp>
        <p:nvSpPr>
          <p:cNvPr id="8" name="Text 6"/>
          <p:cNvSpPr/>
          <p:nvPr/>
        </p:nvSpPr>
        <p:spPr>
          <a:xfrm>
            <a:off x="965200" y="1371600"/>
            <a:ext cx="1779016"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C"/>
                </a:solidFill>
                <a:latin typeface="Noto Sans JP" pitchFamily="34" charset="0"/>
                <a:ea typeface="Noto Sans JP" pitchFamily="34" charset="-122"/>
                <a:cs typeface="Noto Sans JP" pitchFamily="34" charset="-120"/>
              </a:rPr>
              <a:t>利用者と端末</a:t>
            </a:r>
            <a:endParaRPr lang="en-US" sz="1300" dirty="0"/>
          </a:p>
        </p:txBody>
      </p:sp>
      <p:sp>
        <p:nvSpPr>
          <p:cNvPr id="9" name="Text 7"/>
          <p:cNvSpPr/>
          <p:nvPr/>
        </p:nvSpPr>
        <p:spPr>
          <a:xfrm>
            <a:off x="3403600" y="1371600"/>
            <a:ext cx="4604512"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AA8"/>
                </a:solidFill>
                <a:latin typeface="Noto Sans JP" pitchFamily="34" charset="0"/>
                <a:ea typeface="Noto Sans JP" pitchFamily="34" charset="-122"/>
                <a:cs typeface="Noto Sans JP" pitchFamily="34" charset="-120"/>
              </a:rPr>
              <a:t>ゼロトラストのクラウド</a:t>
            </a:r>
            <a:endParaRPr lang="en-US" sz="1300" dirty="0"/>
          </a:p>
        </p:txBody>
      </p:sp>
      <p:sp>
        <p:nvSpPr>
          <p:cNvPr id="10" name="Text 8"/>
          <p:cNvSpPr/>
          <p:nvPr/>
        </p:nvSpPr>
        <p:spPr>
          <a:xfrm>
            <a:off x="8585200" y="1371600"/>
            <a:ext cx="2720848"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C"/>
                </a:solidFill>
                <a:latin typeface="Noto Sans JP" pitchFamily="34" charset="0"/>
                <a:ea typeface="Noto Sans JP" pitchFamily="34" charset="-122"/>
                <a:cs typeface="Noto Sans JP" pitchFamily="34" charset="-120"/>
              </a:rPr>
              <a:t>インターネット・SaaS</a:t>
            </a:r>
            <a:endParaRPr lang="en-US" sz="1300" dirty="0"/>
          </a:p>
        </p:txBody>
      </p:sp>
      <p:sp>
        <p:nvSpPr>
          <p:cNvPr id="11" name="Text 9"/>
          <p:cNvSpPr/>
          <p:nvPr/>
        </p:nvSpPr>
        <p:spPr>
          <a:xfrm>
            <a:off x="8585200" y="3848100"/>
            <a:ext cx="2720848" cy="25649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4A12"/>
                </a:solidFill>
                <a:latin typeface="Noto Sans JP" pitchFamily="34" charset="0"/>
                <a:ea typeface="Noto Sans JP" pitchFamily="34" charset="-122"/>
                <a:cs typeface="Noto Sans JP" pitchFamily="34" charset="-120"/>
              </a:rPr>
              <a:t>社内（オンプレミス）</a:t>
            </a:r>
            <a:endParaRPr lang="en-US" sz="1300" dirty="0"/>
          </a:p>
        </p:txBody>
      </p:sp>
      <p:sp>
        <p:nvSpPr>
          <p:cNvPr id="12" name="Shape 10"/>
          <p:cNvSpPr/>
          <p:nvPr/>
        </p:nvSpPr>
        <p:spPr>
          <a:xfrm>
            <a:off x="971550" y="1720850"/>
            <a:ext cx="1714500" cy="749300"/>
          </a:xfrm>
          <a:prstGeom prst="roundRect">
            <a:avLst>
              <a:gd name="adj" fmla="val 9322"/>
            </a:avLst>
          </a:prstGeom>
          <a:solidFill>
            <a:srgbClr val="FFFFFF"/>
          </a:solidFill>
          <a:ln w="12700">
            <a:solidFill>
              <a:srgbClr val="8A96A8"/>
            </a:solidFill>
            <a:prstDash val="solid"/>
          </a:ln>
        </p:spPr>
      </p:sp>
      <p:sp>
        <p:nvSpPr>
          <p:cNvPr id="13" name="Text 11"/>
          <p:cNvSpPr/>
          <p:nvPr/>
        </p:nvSpPr>
        <p:spPr>
          <a:xfrm>
            <a:off x="1077686" y="1801589"/>
            <a:ext cx="1553029" cy="232569"/>
          </a:xfrm>
          <a:prstGeom prst="rect">
            <a:avLst/>
          </a:prstGeom>
          <a:noFill/>
          <a:ln/>
        </p:spPr>
        <p:txBody>
          <a:bodyPr wrap="square" lIns="0" tIns="0" rIns="0" bIns="0" rtlCol="0" anchor="t">
            <a:normAutofit/>
          </a:bodyPr>
          <a:lstStyle/>
          <a:p>
            <a:pPr algn="l" indent="0" marL="0">
              <a:lnSpc>
                <a:spcPts val="1672"/>
              </a:lnSpc>
              <a:buNone/>
            </a:pPr>
            <a:r>
              <a:rPr lang="en-US" sz="1194" b="1" dirty="0">
                <a:solidFill>
                  <a:srgbClr val="14213D"/>
                </a:solidFill>
                <a:latin typeface="Noto Sans JP" pitchFamily="34" charset="0"/>
                <a:ea typeface="Noto Sans JP" pitchFamily="34" charset="-122"/>
                <a:cs typeface="Noto Sans JP" pitchFamily="34" charset="-120"/>
              </a:rPr>
              <a:t>リモートの社員</a:t>
            </a:r>
            <a:endParaRPr lang="en-US" sz="1194" dirty="0"/>
          </a:p>
        </p:txBody>
      </p:sp>
      <p:sp>
        <p:nvSpPr>
          <p:cNvPr id="14" name="Text 12"/>
          <p:cNvSpPr/>
          <p:nvPr/>
        </p:nvSpPr>
        <p:spPr>
          <a:xfrm>
            <a:off x="1077686" y="2034158"/>
            <a:ext cx="1563914" cy="380660"/>
          </a:xfrm>
          <a:prstGeom prst="rect">
            <a:avLst/>
          </a:prstGeom>
          <a:noFill/>
          <a:ln/>
        </p:spPr>
        <p:txBody>
          <a:bodyPr wrap="square" lIns="0" tIns="0" rIns="0" bIns="0" rtlCol="0" anchor="t">
            <a:normAutofit/>
          </a:bodyPr>
          <a:lstStyle/>
          <a:p>
            <a:pPr algn="l" indent="0" marL="0">
              <a:lnSpc>
                <a:spcPts val="1454"/>
              </a:lnSpc>
              <a:buNone/>
            </a:pPr>
            <a:r>
              <a:rPr lang="en-US" sz="1039" dirty="0">
                <a:solidFill>
                  <a:srgbClr val="3D4A5C"/>
                </a:solidFill>
                <a:latin typeface="Noto Sans JP" pitchFamily="34" charset="0"/>
                <a:ea typeface="Noto Sans JP" pitchFamily="34" charset="-122"/>
                <a:cs typeface="Noto Sans JP" pitchFamily="34" charset="-120"/>
              </a:rPr>
              <a:t>会社の PC（MDM・TPM）</a:t>
            </a:r>
            <a:endParaRPr lang="en-US" sz="1039" dirty="0"/>
          </a:p>
        </p:txBody>
      </p:sp>
      <p:sp>
        <p:nvSpPr>
          <p:cNvPr id="15" name="Shape 13"/>
          <p:cNvSpPr/>
          <p:nvPr/>
        </p:nvSpPr>
        <p:spPr>
          <a:xfrm>
            <a:off x="971550" y="2800350"/>
            <a:ext cx="1714500" cy="749300"/>
          </a:xfrm>
          <a:prstGeom prst="roundRect">
            <a:avLst>
              <a:gd name="adj" fmla="val 9322"/>
            </a:avLst>
          </a:prstGeom>
          <a:solidFill>
            <a:srgbClr val="FFFFFF"/>
          </a:solidFill>
          <a:ln w="12700">
            <a:solidFill>
              <a:srgbClr val="8A96A8"/>
            </a:solidFill>
            <a:prstDash val="solid"/>
          </a:ln>
        </p:spPr>
      </p:sp>
      <p:sp>
        <p:nvSpPr>
          <p:cNvPr id="16" name="Text 14"/>
          <p:cNvSpPr/>
          <p:nvPr/>
        </p:nvSpPr>
        <p:spPr>
          <a:xfrm>
            <a:off x="1077686" y="2931158"/>
            <a:ext cx="1553029"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私物の端末</a:t>
            </a:r>
            <a:endParaRPr lang="en-US" sz="1400" dirty="0"/>
          </a:p>
        </p:txBody>
      </p:sp>
      <p:sp>
        <p:nvSpPr>
          <p:cNvPr id="17" name="Text 15"/>
          <p:cNvSpPr/>
          <p:nvPr/>
        </p:nvSpPr>
        <p:spPr>
          <a:xfrm>
            <a:off x="1077686" y="3205448"/>
            <a:ext cx="1553029"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Noto Sans JP" pitchFamily="34" charset="0"/>
                <a:ea typeface="Noto Sans JP" pitchFamily="34" charset="-122"/>
                <a:cs typeface="Noto Sans JP" pitchFamily="34" charset="-120"/>
              </a:rPr>
              <a:t>BYOD（MAM）</a:t>
            </a:r>
            <a:endParaRPr lang="en-US" sz="1200" dirty="0"/>
          </a:p>
        </p:txBody>
      </p:sp>
      <p:sp>
        <p:nvSpPr>
          <p:cNvPr id="18" name="Shape 16"/>
          <p:cNvSpPr/>
          <p:nvPr/>
        </p:nvSpPr>
        <p:spPr>
          <a:xfrm>
            <a:off x="5797550" y="1720850"/>
            <a:ext cx="2019300" cy="749300"/>
          </a:xfrm>
          <a:prstGeom prst="roundRect">
            <a:avLst>
              <a:gd name="adj" fmla="val 9322"/>
            </a:avLst>
          </a:prstGeom>
          <a:solidFill>
            <a:srgbClr val="FFFFFF"/>
          </a:solidFill>
          <a:ln w="12700">
            <a:solidFill>
              <a:srgbClr val="2457C5"/>
            </a:solidFill>
            <a:prstDash val="solid"/>
          </a:ln>
        </p:spPr>
      </p:sp>
      <p:sp>
        <p:nvSpPr>
          <p:cNvPr id="19" name="Text 17"/>
          <p:cNvSpPr/>
          <p:nvPr/>
        </p:nvSpPr>
        <p:spPr>
          <a:xfrm>
            <a:off x="5903686" y="1851658"/>
            <a:ext cx="186124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AA8"/>
                </a:solidFill>
                <a:latin typeface="Noto Sans JP" pitchFamily="34" charset="0"/>
                <a:ea typeface="Noto Sans JP" pitchFamily="34" charset="-122"/>
                <a:cs typeface="Noto Sans JP" pitchFamily="34" charset="-120"/>
              </a:rPr>
              <a:t>SWG ＋ DLP</a:t>
            </a:r>
            <a:endParaRPr lang="en-US" sz="1400" dirty="0"/>
          </a:p>
        </p:txBody>
      </p:sp>
      <p:sp>
        <p:nvSpPr>
          <p:cNvPr id="20" name="Text 18"/>
          <p:cNvSpPr/>
          <p:nvPr/>
        </p:nvSpPr>
        <p:spPr>
          <a:xfrm>
            <a:off x="5903686" y="2125948"/>
            <a:ext cx="186124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Noto Sans JP" pitchFamily="34" charset="0"/>
                <a:ea typeface="Noto Sans JP" pitchFamily="34" charset="-122"/>
                <a:cs typeface="Noto Sans JP" pitchFamily="34" charset="-120"/>
              </a:rPr>
              <a:t>インターネットへの出口</a:t>
            </a:r>
            <a:endParaRPr lang="en-US" sz="1200" dirty="0"/>
          </a:p>
        </p:txBody>
      </p:sp>
      <p:sp>
        <p:nvSpPr>
          <p:cNvPr id="21" name="Shape 19"/>
          <p:cNvSpPr/>
          <p:nvPr/>
        </p:nvSpPr>
        <p:spPr>
          <a:xfrm>
            <a:off x="5797550" y="2800350"/>
            <a:ext cx="2019300" cy="749300"/>
          </a:xfrm>
          <a:prstGeom prst="roundRect">
            <a:avLst>
              <a:gd name="adj" fmla="val 9322"/>
            </a:avLst>
          </a:prstGeom>
          <a:solidFill>
            <a:srgbClr val="FFFFFF"/>
          </a:solidFill>
          <a:ln w="12700">
            <a:solidFill>
              <a:srgbClr val="2457C5"/>
            </a:solidFill>
            <a:prstDash val="solid"/>
          </a:ln>
        </p:spPr>
      </p:sp>
      <p:sp>
        <p:nvSpPr>
          <p:cNvPr id="22" name="Text 20"/>
          <p:cNvSpPr/>
          <p:nvPr/>
        </p:nvSpPr>
        <p:spPr>
          <a:xfrm>
            <a:off x="5903686" y="2931158"/>
            <a:ext cx="186124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AA8"/>
                </a:solidFill>
                <a:latin typeface="Noto Sans JP" pitchFamily="34" charset="0"/>
                <a:ea typeface="Noto Sans JP" pitchFamily="34" charset="-122"/>
                <a:cs typeface="Noto Sans JP" pitchFamily="34" charset="-120"/>
              </a:rPr>
              <a:t>IAP</a:t>
            </a:r>
            <a:endParaRPr lang="en-US" sz="1400" dirty="0"/>
          </a:p>
        </p:txBody>
      </p:sp>
      <p:sp>
        <p:nvSpPr>
          <p:cNvPr id="23" name="Text 21"/>
          <p:cNvSpPr/>
          <p:nvPr/>
        </p:nvSpPr>
        <p:spPr>
          <a:xfrm>
            <a:off x="5903686" y="3205448"/>
            <a:ext cx="186124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Noto Sans JP" pitchFamily="34" charset="0"/>
                <a:ea typeface="Noto Sans JP" pitchFamily="34" charset="-122"/>
                <a:cs typeface="Noto Sans JP" pitchFamily="34" charset="-120"/>
              </a:rPr>
              <a:t>社内アプリへの入口</a:t>
            </a:r>
            <a:endParaRPr lang="en-US" sz="1200" dirty="0"/>
          </a:p>
        </p:txBody>
      </p:sp>
      <p:sp>
        <p:nvSpPr>
          <p:cNvPr id="24" name="Shape 22"/>
          <p:cNvSpPr/>
          <p:nvPr/>
        </p:nvSpPr>
        <p:spPr>
          <a:xfrm>
            <a:off x="3460750" y="3816350"/>
            <a:ext cx="1892300" cy="876300"/>
          </a:xfrm>
          <a:prstGeom prst="roundRect">
            <a:avLst>
              <a:gd name="adj" fmla="val 7971"/>
            </a:avLst>
          </a:prstGeom>
          <a:solidFill>
            <a:srgbClr val="FFFFFF"/>
          </a:solidFill>
          <a:ln w="12700">
            <a:solidFill>
              <a:srgbClr val="2457C5"/>
            </a:solidFill>
            <a:prstDash val="solid"/>
          </a:ln>
        </p:spPr>
      </p:sp>
      <p:sp>
        <p:nvSpPr>
          <p:cNvPr id="25" name="Text 23"/>
          <p:cNvSpPr/>
          <p:nvPr/>
        </p:nvSpPr>
        <p:spPr>
          <a:xfrm>
            <a:off x="3566886" y="3904010"/>
            <a:ext cx="1730829"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AA8"/>
                </a:solidFill>
                <a:latin typeface="Noto Sans JP" pitchFamily="34" charset="0"/>
                <a:ea typeface="Noto Sans JP" pitchFamily="34" charset="-122"/>
                <a:cs typeface="Noto Sans JP" pitchFamily="34" charset="-120"/>
              </a:rPr>
              <a:t>IAM</a:t>
            </a:r>
            <a:endParaRPr lang="en-US" sz="1400" dirty="0"/>
          </a:p>
        </p:txBody>
      </p:sp>
      <p:sp>
        <p:nvSpPr>
          <p:cNvPr id="26" name="Text 24"/>
          <p:cNvSpPr/>
          <p:nvPr/>
        </p:nvSpPr>
        <p:spPr>
          <a:xfrm>
            <a:off x="3566886" y="4178300"/>
            <a:ext cx="1730829"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Noto Sans JP" pitchFamily="34" charset="0"/>
                <a:ea typeface="Noto Sans JP" pitchFamily="34" charset="-122"/>
                <a:cs typeface="Noto Sans JP" pitchFamily="34" charset="-120"/>
              </a:rPr>
              <a:t>誰かを確かめる（MFA・相互 TLS）</a:t>
            </a:r>
            <a:endParaRPr lang="en-US" sz="1200" dirty="0"/>
          </a:p>
        </p:txBody>
      </p:sp>
      <p:sp>
        <p:nvSpPr>
          <p:cNvPr id="27" name="Shape 25"/>
          <p:cNvSpPr/>
          <p:nvPr/>
        </p:nvSpPr>
        <p:spPr>
          <a:xfrm>
            <a:off x="5797550" y="3816350"/>
            <a:ext cx="2019300" cy="876300"/>
          </a:xfrm>
          <a:prstGeom prst="roundRect">
            <a:avLst>
              <a:gd name="adj" fmla="val 7971"/>
            </a:avLst>
          </a:prstGeom>
          <a:solidFill>
            <a:srgbClr val="FFFFFF"/>
          </a:solidFill>
          <a:ln w="12700">
            <a:solidFill>
              <a:srgbClr val="2457C5"/>
            </a:solidFill>
            <a:prstDash val="solid"/>
          </a:ln>
        </p:spPr>
      </p:sp>
      <p:sp>
        <p:nvSpPr>
          <p:cNvPr id="28" name="Text 26"/>
          <p:cNvSpPr/>
          <p:nvPr/>
        </p:nvSpPr>
        <p:spPr>
          <a:xfrm>
            <a:off x="5903686" y="3904010"/>
            <a:ext cx="186124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AA8"/>
                </a:solidFill>
                <a:latin typeface="Noto Sans JP" pitchFamily="34" charset="0"/>
                <a:ea typeface="Noto Sans JP" pitchFamily="34" charset="-122"/>
                <a:cs typeface="Noto Sans JP" pitchFamily="34" charset="-120"/>
              </a:rPr>
              <a:t>SIEM / SOAR</a:t>
            </a:r>
            <a:endParaRPr lang="en-US" sz="1400" dirty="0"/>
          </a:p>
        </p:txBody>
      </p:sp>
      <p:sp>
        <p:nvSpPr>
          <p:cNvPr id="29" name="Text 27"/>
          <p:cNvSpPr/>
          <p:nvPr/>
        </p:nvSpPr>
        <p:spPr>
          <a:xfrm>
            <a:off x="5903686" y="4178300"/>
            <a:ext cx="1861240"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Noto Sans JP" pitchFamily="34" charset="0"/>
                <a:ea typeface="Noto Sans JP" pitchFamily="34" charset="-122"/>
                <a:cs typeface="Noto Sans JP" pitchFamily="34" charset="-120"/>
              </a:rPr>
              <a:t>各所のログを集めて分析・自動で対応</a:t>
            </a:r>
            <a:endParaRPr lang="en-US" sz="1200" dirty="0"/>
          </a:p>
        </p:txBody>
      </p:sp>
      <p:sp>
        <p:nvSpPr>
          <p:cNvPr id="30" name="Text 28"/>
          <p:cNvSpPr/>
          <p:nvPr/>
        </p:nvSpPr>
        <p:spPr>
          <a:xfrm>
            <a:off x="8642350" y="1784350"/>
            <a:ext cx="2527300" cy="622300"/>
          </a:xfrm>
          <a:prstGeom prst="roundRect">
            <a:avLst>
              <a:gd name="adj" fmla="val 11224"/>
            </a:avLst>
          </a:prstGeom>
          <a:solidFill>
            <a:srgbClr val="FFFFFF"/>
          </a:solidFill>
          <a:ln w="12700">
            <a:solidFill>
              <a:srgbClr val="8A96A8"/>
            </a:solidFill>
            <a:prstDash val="solid"/>
          </a:ln>
        </p:spPr>
        <p:txBody>
          <a:bodyPr wrap="square" lIns="85678" tIns="60277" rIns="16226" bIns="60277" rtlCol="0" anchor="ctr">
            <a:normAutofit/>
          </a:bodyPr>
          <a:lstStyle/>
          <a:p>
            <a:pPr algn="l"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一般の Web サイト</a:t>
            </a:r>
            <a:endParaRPr lang="en-US" sz="1400" dirty="0"/>
          </a:p>
        </p:txBody>
      </p:sp>
      <p:sp>
        <p:nvSpPr>
          <p:cNvPr id="31" name="Shape 29"/>
          <p:cNvSpPr/>
          <p:nvPr/>
        </p:nvSpPr>
        <p:spPr>
          <a:xfrm>
            <a:off x="8642350" y="2578100"/>
            <a:ext cx="2527300" cy="876300"/>
          </a:xfrm>
          <a:prstGeom prst="roundRect">
            <a:avLst>
              <a:gd name="adj" fmla="val 7971"/>
            </a:avLst>
          </a:prstGeom>
          <a:solidFill>
            <a:srgbClr val="FFFFFF"/>
          </a:solidFill>
          <a:ln w="12700">
            <a:solidFill>
              <a:srgbClr val="8A96A8"/>
            </a:solidFill>
            <a:prstDash val="solid"/>
          </a:ln>
        </p:spPr>
      </p:sp>
      <p:sp>
        <p:nvSpPr>
          <p:cNvPr id="32" name="Text 30"/>
          <p:cNvSpPr/>
          <p:nvPr/>
        </p:nvSpPr>
        <p:spPr>
          <a:xfrm>
            <a:off x="8748486" y="2665760"/>
            <a:ext cx="238448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SaaS</a:t>
            </a:r>
            <a:endParaRPr lang="en-US" sz="1400" dirty="0"/>
          </a:p>
        </p:txBody>
      </p:sp>
      <p:sp>
        <p:nvSpPr>
          <p:cNvPr id="33" name="Text 31"/>
          <p:cNvSpPr/>
          <p:nvPr/>
        </p:nvSpPr>
        <p:spPr>
          <a:xfrm>
            <a:off x="8748486" y="2940050"/>
            <a:ext cx="2384480"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Noto Sans JP" pitchFamily="34" charset="0"/>
                <a:ea typeface="Noto Sans JP" pitchFamily="34" charset="-122"/>
                <a:cs typeface="Noto Sans JP" pitchFamily="34" charset="-120"/>
              </a:rPr>
              <a:t>Microsoft 365・クラウドストレージなど</a:t>
            </a:r>
            <a:endParaRPr lang="en-US" sz="1200" dirty="0"/>
          </a:p>
        </p:txBody>
      </p:sp>
      <p:sp>
        <p:nvSpPr>
          <p:cNvPr id="34" name="Shape 32"/>
          <p:cNvSpPr/>
          <p:nvPr/>
        </p:nvSpPr>
        <p:spPr>
          <a:xfrm>
            <a:off x="8642350" y="4197350"/>
            <a:ext cx="1130300" cy="622300"/>
          </a:xfrm>
          <a:prstGeom prst="roundRect">
            <a:avLst>
              <a:gd name="adj" fmla="val 11224"/>
            </a:avLst>
          </a:prstGeom>
          <a:solidFill>
            <a:srgbClr val="FFFFFF"/>
          </a:solidFill>
          <a:ln w="12700">
            <a:solidFill>
              <a:srgbClr val="A07A3A"/>
            </a:solidFill>
            <a:prstDash val="solid"/>
          </a:ln>
        </p:spPr>
      </p:sp>
      <p:sp>
        <p:nvSpPr>
          <p:cNvPr id="35" name="Text 33"/>
          <p:cNvSpPr/>
          <p:nvPr/>
        </p:nvSpPr>
        <p:spPr>
          <a:xfrm>
            <a:off x="8748486" y="4278089"/>
            <a:ext cx="968829" cy="259840"/>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4213D"/>
                </a:solidFill>
                <a:latin typeface="Noto Sans JP" pitchFamily="34" charset="0"/>
                <a:ea typeface="Noto Sans JP" pitchFamily="34" charset="-122"/>
                <a:cs typeface="Noto Sans JP" pitchFamily="34" charset="-120"/>
              </a:rPr>
              <a:t>コネクタ</a:t>
            </a:r>
            <a:endParaRPr lang="en-US" sz="1339" dirty="0"/>
          </a:p>
        </p:txBody>
      </p:sp>
      <p:sp>
        <p:nvSpPr>
          <p:cNvPr id="36" name="Text 34"/>
          <p:cNvSpPr/>
          <p:nvPr/>
        </p:nvSpPr>
        <p:spPr>
          <a:xfrm>
            <a:off x="8748486" y="4537931"/>
            <a:ext cx="968829" cy="226389"/>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D4A5C"/>
                </a:solidFill>
                <a:latin typeface="Noto Sans JP" pitchFamily="34" charset="0"/>
                <a:ea typeface="Noto Sans JP" pitchFamily="34" charset="-122"/>
                <a:cs typeface="Noto Sans JP" pitchFamily="34" charset="-120"/>
              </a:rPr>
              <a:t>外へ接続</a:t>
            </a:r>
            <a:endParaRPr lang="en-US" sz="1159" dirty="0"/>
          </a:p>
        </p:txBody>
      </p:sp>
      <p:sp>
        <p:nvSpPr>
          <p:cNvPr id="37" name="Text 35"/>
          <p:cNvSpPr/>
          <p:nvPr/>
        </p:nvSpPr>
        <p:spPr>
          <a:xfrm>
            <a:off x="10039351" y="4197350"/>
            <a:ext cx="1130300" cy="622300"/>
          </a:xfrm>
          <a:prstGeom prst="roundRect">
            <a:avLst>
              <a:gd name="adj" fmla="val 11224"/>
            </a:avLst>
          </a:prstGeom>
          <a:solidFill>
            <a:srgbClr val="FFFFFF"/>
          </a:solidFill>
          <a:ln w="12700">
            <a:solidFill>
              <a:srgbClr val="A07A3A"/>
            </a:solidFill>
            <a:prstDash val="solid"/>
          </a:ln>
        </p:spPr>
        <p:txBody>
          <a:bodyPr wrap="square" lIns="85677" tIns="60277" rIns="34878" bIns="60277" rtlCol="0" anchor="ctr">
            <a:normAutofit/>
          </a:bodyPr>
          <a:lstStyle/>
          <a:p>
            <a:pPr algn="l" indent="0" marL="0">
              <a:lnSpc>
                <a:spcPts val="1960"/>
              </a:lnSpc>
              <a:buNone/>
            </a:pPr>
            <a:r>
              <a:rPr lang="en-US" sz="1400" b="1" dirty="0">
                <a:solidFill>
                  <a:srgbClr val="14213D"/>
                </a:solidFill>
                <a:latin typeface="Noto Sans JP" pitchFamily="34" charset="0"/>
                <a:ea typeface="Noto Sans JP" pitchFamily="34" charset="-122"/>
                <a:cs typeface="Noto Sans JP" pitchFamily="34" charset="-120"/>
              </a:rPr>
              <a:t>社内アプリ</a:t>
            </a:r>
            <a:endParaRPr lang="en-US" sz="1400" dirty="0"/>
          </a:p>
        </p:txBody>
      </p:sp>
      <p:sp>
        <p:nvSpPr>
          <p:cNvPr id="38" name="Text 36"/>
          <p:cNvSpPr/>
          <p:nvPr/>
        </p:nvSpPr>
        <p:spPr>
          <a:xfrm>
            <a:off x="8642350" y="5213350"/>
            <a:ext cx="2527300" cy="622300"/>
          </a:xfrm>
          <a:prstGeom prst="roundRect">
            <a:avLst>
              <a:gd name="adj" fmla="val 11224"/>
            </a:avLst>
          </a:prstGeom>
          <a:solidFill>
            <a:srgbClr val="F7F6F2"/>
          </a:solidFill>
          <a:ln w="12700">
            <a:solidFill>
              <a:srgbClr val="8A96A8"/>
            </a:solidFill>
            <a:prstDash val="dash"/>
          </a:ln>
        </p:spPr>
        <p:txBody>
          <a:bodyPr wrap="square" lIns="85678" tIns="60277" rIns="16226" bIns="60277" rtlCol="0" anchor="ctr">
            <a:normAutofit/>
          </a:bodyPr>
          <a:lstStyle/>
          <a:p>
            <a:pPr algn="l" indent="0" marL="0">
              <a:lnSpc>
                <a:spcPts val="1960"/>
              </a:lnSpc>
              <a:buNone/>
            </a:pPr>
            <a:r>
              <a:rPr lang="en-US" sz="1400" b="1" dirty="0">
                <a:solidFill>
                  <a:srgbClr val="6B7280"/>
                </a:solidFill>
                <a:latin typeface="Noto Sans JP" pitchFamily="34" charset="0"/>
                <a:ea typeface="Noto Sans JP" pitchFamily="34" charset="-122"/>
                <a:cs typeface="Noto Sans JP" pitchFamily="34" charset="-120"/>
              </a:rPr>
              <a:t>VPN 装置（従来）</a:t>
            </a:r>
            <a:endParaRPr lang="en-US" sz="1400" dirty="0"/>
          </a:p>
        </p:txBody>
      </p:sp>
      <p:pic>
        <p:nvPicPr>
          <p:cNvPr id="39" name="Image 0" descr="connector">    </p:cNvPr>
          <p:cNvPicPr>
            <a:picLocks noChangeAspect="1"/>
          </p:cNvPicPr>
          <p:nvPr/>
        </p:nvPicPr>
        <p:blipFill>
          <a:blip r:embed="rId1"/>
          <a:srcRect l="0" r="0" t="0" b="0"/>
          <a:stretch/>
        </p:blipFill>
        <p:spPr>
          <a:xfrm>
            <a:off x="2641600" y="2044700"/>
            <a:ext cx="381000" cy="101600"/>
          </a:xfrm>
          <a:prstGeom prst="rect">
            <a:avLst/>
          </a:prstGeom>
        </p:spPr>
      </p:pic>
      <p:pic>
        <p:nvPicPr>
          <p:cNvPr id="40" name="Image 1" descr="connector">    </p:cNvPr>
          <p:cNvPicPr>
            <a:picLocks noChangeAspect="1"/>
          </p:cNvPicPr>
          <p:nvPr/>
        </p:nvPicPr>
        <p:blipFill>
          <a:blip r:embed="rId2"/>
          <a:srcRect l="0" r="0" t="0" b="0"/>
          <a:stretch/>
        </p:blipFill>
        <p:spPr>
          <a:xfrm>
            <a:off x="2641600" y="3124200"/>
            <a:ext cx="381000" cy="101600"/>
          </a:xfrm>
          <a:prstGeom prst="rect">
            <a:avLst/>
          </a:prstGeom>
        </p:spPr>
      </p:pic>
      <p:pic>
        <p:nvPicPr>
          <p:cNvPr id="41" name="Image 2" descr="connector">    </p:cNvPr>
          <p:cNvPicPr>
            <a:picLocks noChangeAspect="1"/>
          </p:cNvPicPr>
          <p:nvPr/>
        </p:nvPicPr>
        <p:blipFill>
          <a:blip r:embed="rId3"/>
          <a:srcRect l="0" r="0" t="0" b="0"/>
          <a:stretch/>
        </p:blipFill>
        <p:spPr>
          <a:xfrm>
            <a:off x="2921000" y="2044700"/>
            <a:ext cx="101600" cy="1181100"/>
          </a:xfrm>
          <a:prstGeom prst="rect">
            <a:avLst/>
          </a:prstGeom>
        </p:spPr>
      </p:pic>
      <p:pic>
        <p:nvPicPr>
          <p:cNvPr id="42" name="Image 3" descr="connector">    </p:cNvPr>
          <p:cNvPicPr>
            <a:picLocks noChangeAspect="1"/>
          </p:cNvPicPr>
          <p:nvPr/>
        </p:nvPicPr>
        <p:blipFill>
          <a:blip r:embed="rId4"/>
          <a:srcRect l="0" r="0" t="0" b="0"/>
          <a:stretch/>
        </p:blipFill>
        <p:spPr>
          <a:xfrm>
            <a:off x="2921000" y="2044700"/>
            <a:ext cx="2921000" cy="101600"/>
          </a:xfrm>
          <a:prstGeom prst="rect">
            <a:avLst/>
          </a:prstGeom>
        </p:spPr>
      </p:pic>
      <p:pic>
        <p:nvPicPr>
          <p:cNvPr id="43" name="Image 4" descr="connector">    </p:cNvPr>
          <p:cNvPicPr>
            <a:picLocks noChangeAspect="1"/>
          </p:cNvPicPr>
          <p:nvPr/>
        </p:nvPicPr>
        <p:blipFill>
          <a:blip r:embed="rId5"/>
          <a:srcRect l="0" r="0" t="0" b="0"/>
          <a:stretch/>
        </p:blipFill>
        <p:spPr>
          <a:xfrm>
            <a:off x="2921000" y="3124200"/>
            <a:ext cx="2921000" cy="101600"/>
          </a:xfrm>
          <a:prstGeom prst="rect">
            <a:avLst/>
          </a:prstGeom>
        </p:spPr>
      </p:pic>
      <p:pic>
        <p:nvPicPr>
          <p:cNvPr id="44" name="Image 5" descr="connector">    </p:cNvPr>
          <p:cNvPicPr>
            <a:picLocks noChangeAspect="1"/>
          </p:cNvPicPr>
          <p:nvPr/>
        </p:nvPicPr>
        <p:blipFill>
          <a:blip r:embed="rId6"/>
          <a:srcRect l="0" r="0" t="0" b="0"/>
          <a:stretch/>
        </p:blipFill>
        <p:spPr>
          <a:xfrm>
            <a:off x="5156200" y="3378200"/>
            <a:ext cx="685800" cy="482600"/>
          </a:xfrm>
          <a:prstGeom prst="rect">
            <a:avLst/>
          </a:prstGeom>
        </p:spPr>
      </p:pic>
      <p:pic>
        <p:nvPicPr>
          <p:cNvPr id="45" name="Image 6" descr="connector">    </p:cNvPr>
          <p:cNvPicPr>
            <a:picLocks noChangeAspect="1"/>
          </p:cNvPicPr>
          <p:nvPr/>
        </p:nvPicPr>
        <p:blipFill>
          <a:blip r:embed="rId7"/>
          <a:srcRect l="0" r="0" t="0" b="0"/>
          <a:stretch/>
        </p:blipFill>
        <p:spPr>
          <a:xfrm>
            <a:off x="7772400" y="2044700"/>
            <a:ext cx="914400" cy="101600"/>
          </a:xfrm>
          <a:prstGeom prst="rect">
            <a:avLst/>
          </a:prstGeom>
        </p:spPr>
      </p:pic>
      <p:pic>
        <p:nvPicPr>
          <p:cNvPr id="46" name="Image 7" descr="connector">    </p:cNvPr>
          <p:cNvPicPr>
            <a:picLocks noChangeAspect="1"/>
          </p:cNvPicPr>
          <p:nvPr/>
        </p:nvPicPr>
        <p:blipFill>
          <a:blip r:embed="rId8"/>
          <a:srcRect l="0" r="0" t="0" b="0"/>
          <a:stretch/>
        </p:blipFill>
        <p:spPr>
          <a:xfrm>
            <a:off x="7772400" y="2235200"/>
            <a:ext cx="508000" cy="101600"/>
          </a:xfrm>
          <a:prstGeom prst="rect">
            <a:avLst/>
          </a:prstGeom>
        </p:spPr>
      </p:pic>
      <p:pic>
        <p:nvPicPr>
          <p:cNvPr id="47" name="Image 8" descr="connector">    </p:cNvPr>
          <p:cNvPicPr>
            <a:picLocks noChangeAspect="1"/>
          </p:cNvPicPr>
          <p:nvPr/>
        </p:nvPicPr>
        <p:blipFill>
          <a:blip r:embed="rId9"/>
          <a:srcRect l="0" r="0" t="0" b="0"/>
          <a:stretch/>
        </p:blipFill>
        <p:spPr>
          <a:xfrm>
            <a:off x="8178800" y="2235200"/>
            <a:ext cx="101600" cy="768350"/>
          </a:xfrm>
          <a:prstGeom prst="rect">
            <a:avLst/>
          </a:prstGeom>
        </p:spPr>
      </p:pic>
      <p:pic>
        <p:nvPicPr>
          <p:cNvPr id="48" name="Image 9" descr="connector">    </p:cNvPr>
          <p:cNvPicPr>
            <a:picLocks noChangeAspect="1"/>
          </p:cNvPicPr>
          <p:nvPr/>
        </p:nvPicPr>
        <p:blipFill>
          <a:blip r:embed="rId10"/>
          <a:srcRect l="0" r="0" t="0" b="0"/>
          <a:stretch/>
        </p:blipFill>
        <p:spPr>
          <a:xfrm>
            <a:off x="8178800" y="2901950"/>
            <a:ext cx="508000" cy="101600"/>
          </a:xfrm>
          <a:prstGeom prst="rect">
            <a:avLst/>
          </a:prstGeom>
        </p:spPr>
      </p:pic>
      <p:pic>
        <p:nvPicPr>
          <p:cNvPr id="49" name="Image 10" descr="connector">    </p:cNvPr>
          <p:cNvPicPr>
            <a:picLocks noChangeAspect="1"/>
          </p:cNvPicPr>
          <p:nvPr/>
        </p:nvPicPr>
        <p:blipFill>
          <a:blip r:embed="rId11"/>
          <a:srcRect l="0" r="0" t="0" b="0"/>
          <a:stretch/>
        </p:blipFill>
        <p:spPr>
          <a:xfrm>
            <a:off x="8178800" y="4457700"/>
            <a:ext cx="508000" cy="101600"/>
          </a:xfrm>
          <a:prstGeom prst="rect">
            <a:avLst/>
          </a:prstGeom>
        </p:spPr>
      </p:pic>
      <p:pic>
        <p:nvPicPr>
          <p:cNvPr id="50" name="Image 11" descr="connector">    </p:cNvPr>
          <p:cNvPicPr>
            <a:picLocks noChangeAspect="1"/>
          </p:cNvPicPr>
          <p:nvPr/>
        </p:nvPicPr>
        <p:blipFill>
          <a:blip r:embed="rId12"/>
          <a:srcRect l="0" r="0" t="0" b="0"/>
          <a:stretch/>
        </p:blipFill>
        <p:spPr>
          <a:xfrm>
            <a:off x="8178800" y="3314700"/>
            <a:ext cx="101600" cy="1244600"/>
          </a:xfrm>
          <a:prstGeom prst="rect">
            <a:avLst/>
          </a:prstGeom>
        </p:spPr>
      </p:pic>
      <p:pic>
        <p:nvPicPr>
          <p:cNvPr id="51" name="Image 12" descr="connector">    </p:cNvPr>
          <p:cNvPicPr>
            <a:picLocks noChangeAspect="1"/>
          </p:cNvPicPr>
          <p:nvPr/>
        </p:nvPicPr>
        <p:blipFill>
          <a:blip r:embed="rId13"/>
          <a:srcRect l="0" r="0" t="0" b="0"/>
          <a:stretch/>
        </p:blipFill>
        <p:spPr>
          <a:xfrm>
            <a:off x="7772400" y="3314700"/>
            <a:ext cx="508000" cy="101600"/>
          </a:xfrm>
          <a:prstGeom prst="rect">
            <a:avLst/>
          </a:prstGeom>
        </p:spPr>
      </p:pic>
      <p:pic>
        <p:nvPicPr>
          <p:cNvPr id="52" name="Image 13" descr="connector">    </p:cNvPr>
          <p:cNvPicPr>
            <a:picLocks noChangeAspect="1"/>
          </p:cNvPicPr>
          <p:nvPr/>
        </p:nvPicPr>
        <p:blipFill>
          <a:blip r:embed="rId14"/>
          <a:srcRect l="0" r="0" t="0" b="0"/>
          <a:stretch/>
        </p:blipFill>
        <p:spPr>
          <a:xfrm>
            <a:off x="9728201" y="4457700"/>
            <a:ext cx="355600" cy="101600"/>
          </a:xfrm>
          <a:prstGeom prst="rect">
            <a:avLst/>
          </a:prstGeom>
        </p:spPr>
      </p:pic>
      <p:pic>
        <p:nvPicPr>
          <p:cNvPr id="53" name="Image 14" descr="connector">    </p:cNvPr>
          <p:cNvPicPr>
            <a:picLocks noChangeAspect="1"/>
          </p:cNvPicPr>
          <p:nvPr/>
        </p:nvPicPr>
        <p:blipFill>
          <a:blip r:embed="rId15"/>
          <a:srcRect l="0" r="0" t="0" b="0"/>
          <a:stretch/>
        </p:blipFill>
        <p:spPr>
          <a:xfrm>
            <a:off x="1778000" y="3505200"/>
            <a:ext cx="6908800" cy="2070100"/>
          </a:xfrm>
          <a:prstGeom prst="rect">
            <a:avLst/>
          </a:prstGeom>
        </p:spPr>
      </p:pic>
      <p:sp>
        <p:nvSpPr>
          <p:cNvPr id="54" name="Text 37"/>
          <p:cNvSpPr/>
          <p:nvPr/>
        </p:nvSpPr>
        <p:spPr>
          <a:xfrm>
            <a:off x="3606800" y="3505200"/>
            <a:ext cx="144780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4AA8"/>
                </a:solidFill>
                <a:latin typeface="Noto Sans JP" pitchFamily="34" charset="0"/>
                <a:ea typeface="Noto Sans JP" pitchFamily="34" charset="-122"/>
                <a:cs typeface="Noto Sans JP" pitchFamily="34" charset="-120"/>
              </a:rPr>
              <a:t>問い合わせ</a:t>
            </a:r>
            <a:endParaRPr lang="en-US" sz="1200" dirty="0"/>
          </a:p>
        </p:txBody>
      </p:sp>
      <p:sp>
        <p:nvSpPr>
          <p:cNvPr id="55" name="Text 38"/>
          <p:cNvSpPr/>
          <p:nvPr/>
        </p:nvSpPr>
        <p:spPr>
          <a:xfrm>
            <a:off x="3556000" y="5207000"/>
            <a:ext cx="418592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従来：VPN で社内ネットワーク全体へ</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AEEF5"/>
        </a:solidFill>
      </p:bgPr>
    </p:bg>
    <p:spTree>
      <p:nvGrpSpPr>
        <p:cNvPr id="1" name=""/>
        <p:cNvGrpSpPr/>
        <p:nvPr/>
      </p:nvGrpSpPr>
      <p:grpSpPr>
        <a:xfrm>
          <a:off x="0" y="0"/>
          <a:ext cx="0" cy="0"/>
          <a:chOff x="0" y="0"/>
          <a:chExt cx="0" cy="0"/>
        </a:xfrm>
      </p:grpSpPr>
      <p:sp>
        <p:nvSpPr>
          <p:cNvPr id="2" name="Text 0"/>
          <p:cNvSpPr/>
          <p:nvPr/>
        </p:nvSpPr>
        <p:spPr>
          <a:xfrm>
            <a:off x="812800" y="812800"/>
            <a:ext cx="1079500" cy="307295"/>
          </a:xfrm>
          <a:custGeom>
            <a:avLst/>
            <a:gdLst/>
            <a:ahLst/>
            <a:cxnLst/>
            <a:rect l="l" t="t" r="r" b="b"/>
            <a:pathLst>
              <a:path w="1079500" h="307295">
                <a:moveTo>
                  <a:pt x="153647" y="0"/>
                </a:moveTo>
                <a:lnTo>
                  <a:pt x="925853" y="0"/>
                </a:lnTo>
                <a:arcTo hR="153647" wR="153647" stAng="16200000" swAng="5400000"/>
                <a:lnTo>
                  <a:pt x="1079500" y="153647"/>
                </a:lnTo>
                <a:arcTo hR="153647" wR="153647" stAng="0" swAng="5400000"/>
                <a:lnTo>
                  <a:pt x="153647" y="307295"/>
                </a:lnTo>
                <a:arcTo hR="153647" wR="153647" stAng="5400000" swAng="5400000"/>
                <a:lnTo>
                  <a:pt x="0" y="153647"/>
                </a:lnTo>
                <a:arcTo hR="153647" wR="153647" stAng="10800000" swAng="5400000"/>
                <a:close/>
              </a:path>
            </a:pathLst>
          </a:custGeom>
          <a:solidFill>
            <a:srgbClr val="F3D2B3"/>
          </a:solidFill>
          <a:ln/>
        </p:spPr>
        <p:txBody>
          <a:bodyPr wrap="none" lIns="0" tIns="0" rIns="0" bIns="0" rtlCol="0" anchor="ctr">
            <a:normAutofit/>
          </a:bodyPr>
          <a:lstStyle/>
          <a:p>
            <a:pPr algn="ctr" indent="0" marL="0">
              <a:lnSpc>
                <a:spcPts val="1820"/>
              </a:lnSpc>
              <a:buNone/>
            </a:pPr>
            <a:r>
              <a:rPr lang="en-US" sz="1300" b="1" dirty="0">
                <a:solidFill>
                  <a:srgbClr val="7A3A0B"/>
                </a:solidFill>
                <a:latin typeface="Noto Sans JP" pitchFamily="34" charset="0"/>
                <a:ea typeface="Noto Sans JP" pitchFamily="34" charset="-122"/>
                <a:cs typeface="Noto Sans JP" pitchFamily="34" charset="-120"/>
              </a:rPr>
              <a:t>オプション</a:t>
            </a:r>
            <a:endParaRPr lang="en-US" sz="1300" dirty="0"/>
          </a:p>
        </p:txBody>
      </p:sp>
      <p:sp>
        <p:nvSpPr>
          <p:cNvPr id="3" name="Text 1"/>
          <p:cNvSpPr/>
          <p:nvPr/>
        </p:nvSpPr>
        <p:spPr>
          <a:xfrm>
            <a:off x="2044700" y="842008"/>
            <a:ext cx="149352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構成要素の補足</a:t>
            </a:r>
            <a:endParaRPr lang="en-US" sz="1400" dirty="0"/>
          </a:p>
        </p:txBody>
      </p:sp>
      <p:sp>
        <p:nvSpPr>
          <p:cNvPr id="4" name="Text 2"/>
          <p:cNvSpPr/>
          <p:nvPr>
            <p:ph type="title"/>
          </p:nvPr>
        </p:nvSpPr>
        <p:spPr>
          <a:xfrm>
            <a:off x="812800" y="1348705"/>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ほかにもある仕組み</a:t>
            </a:r>
            <a:endParaRPr lang="en-US" sz="3000" dirty="0"/>
          </a:p>
        </p:txBody>
      </p:sp>
      <p:sp>
        <p:nvSpPr>
          <p:cNvPr id="5" name="Shape 3"/>
          <p:cNvSpPr/>
          <p:nvPr/>
        </p:nvSpPr>
        <p:spPr>
          <a:xfrm>
            <a:off x="815975" y="2056730"/>
            <a:ext cx="5187950" cy="1222602"/>
          </a:xfrm>
          <a:prstGeom prst="roundRect">
            <a:avLst>
              <a:gd name="adj" fmla="val 8050"/>
            </a:avLst>
          </a:prstGeom>
          <a:solidFill>
            <a:srgbClr val="FFFFFF"/>
          </a:solidFill>
          <a:ln w="6350">
            <a:solidFill>
              <a:srgbClr val="C7CFDD"/>
            </a:solidFill>
            <a:prstDash val="solid"/>
          </a:ln>
        </p:spPr>
      </p:sp>
      <p:sp>
        <p:nvSpPr>
          <p:cNvPr id="6" name="Text 4"/>
          <p:cNvSpPr/>
          <p:nvPr/>
        </p:nvSpPr>
        <p:spPr>
          <a:xfrm>
            <a:off x="1019629" y="2260377"/>
            <a:ext cx="4924062"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パスワードレス（FIDO2 / パスキー）</a:t>
            </a:r>
            <a:endParaRPr lang="en-US" sz="1600" dirty="0"/>
          </a:p>
        </p:txBody>
      </p:sp>
      <p:sp>
        <p:nvSpPr>
          <p:cNvPr id="7" name="Text 5"/>
          <p:cNvSpPr/>
          <p:nvPr/>
        </p:nvSpPr>
        <p:spPr>
          <a:xfrm>
            <a:off x="1019629" y="2580370"/>
            <a:ext cx="492406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誰か：端末の中の秘密鍵で認証する。パスワードを入力しないのでフィッシングに強い</a:t>
            </a:r>
            <a:endParaRPr lang="en-US" sz="1300" dirty="0"/>
          </a:p>
        </p:txBody>
      </p:sp>
      <p:sp>
        <p:nvSpPr>
          <p:cNvPr id="8" name="Shape 6"/>
          <p:cNvSpPr/>
          <p:nvPr/>
        </p:nvSpPr>
        <p:spPr>
          <a:xfrm>
            <a:off x="6188075" y="2056730"/>
            <a:ext cx="5187950" cy="1222602"/>
          </a:xfrm>
          <a:prstGeom prst="roundRect">
            <a:avLst>
              <a:gd name="adj" fmla="val 8050"/>
            </a:avLst>
          </a:prstGeom>
          <a:solidFill>
            <a:srgbClr val="FFFFFF"/>
          </a:solidFill>
          <a:ln w="6350">
            <a:solidFill>
              <a:srgbClr val="C7CFDD"/>
            </a:solidFill>
            <a:prstDash val="solid"/>
          </a:ln>
        </p:spPr>
      </p:sp>
      <p:sp>
        <p:nvSpPr>
          <p:cNvPr id="9" name="Text 7"/>
          <p:cNvSpPr/>
          <p:nvPr/>
        </p:nvSpPr>
        <p:spPr>
          <a:xfrm>
            <a:off x="6391729" y="2260377"/>
            <a:ext cx="4924062"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EDR（Endpoint Detection and Response）</a:t>
            </a:r>
            <a:endParaRPr lang="en-US" sz="1600" dirty="0"/>
          </a:p>
        </p:txBody>
      </p:sp>
      <p:sp>
        <p:nvSpPr>
          <p:cNvPr id="10" name="Text 8"/>
          <p:cNvSpPr/>
          <p:nvPr/>
        </p:nvSpPr>
        <p:spPr>
          <a:xfrm>
            <a:off x="6391729" y="2580370"/>
            <a:ext cx="492406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どの端末か：端末上の怪しい動きを見張り、隔離までする。MDM は設定、EDR は振る舞いを見る</a:t>
            </a:r>
            <a:endParaRPr lang="en-US" sz="1300" dirty="0"/>
          </a:p>
        </p:txBody>
      </p:sp>
      <p:sp>
        <p:nvSpPr>
          <p:cNvPr id="11" name="Shape 9"/>
          <p:cNvSpPr/>
          <p:nvPr/>
        </p:nvSpPr>
        <p:spPr>
          <a:xfrm>
            <a:off x="815975" y="3463479"/>
            <a:ext cx="5187950" cy="1222602"/>
          </a:xfrm>
          <a:prstGeom prst="roundRect">
            <a:avLst>
              <a:gd name="adj" fmla="val 8050"/>
            </a:avLst>
          </a:prstGeom>
          <a:solidFill>
            <a:srgbClr val="FFFFFF"/>
          </a:solidFill>
          <a:ln w="6350">
            <a:solidFill>
              <a:srgbClr val="C7CFDD"/>
            </a:solidFill>
            <a:prstDash val="solid"/>
          </a:ln>
        </p:spPr>
      </p:sp>
      <p:sp>
        <p:nvSpPr>
          <p:cNvPr id="12" name="Text 10"/>
          <p:cNvSpPr/>
          <p:nvPr/>
        </p:nvSpPr>
        <p:spPr>
          <a:xfrm>
            <a:off x="1019629" y="3667125"/>
            <a:ext cx="4924062"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マイクロセグメンテーション</a:t>
            </a:r>
            <a:endParaRPr lang="en-US" sz="1600" dirty="0"/>
          </a:p>
        </p:txBody>
      </p:sp>
      <p:sp>
        <p:nvSpPr>
          <p:cNvPr id="13" name="Text 11"/>
          <p:cNvSpPr/>
          <p:nvPr/>
        </p:nvSpPr>
        <p:spPr>
          <a:xfrm>
            <a:off x="1019629" y="3987130"/>
            <a:ext cx="492406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どこへの通信か：サーバー同士の通信も細かく分けて、侵入後の横移動を防ぐ</a:t>
            </a:r>
            <a:endParaRPr lang="en-US" sz="1300" dirty="0"/>
          </a:p>
        </p:txBody>
      </p:sp>
      <p:sp>
        <p:nvSpPr>
          <p:cNvPr id="14" name="Shape 12"/>
          <p:cNvSpPr/>
          <p:nvPr/>
        </p:nvSpPr>
        <p:spPr>
          <a:xfrm>
            <a:off x="6188075" y="3463479"/>
            <a:ext cx="5187950" cy="1222602"/>
          </a:xfrm>
          <a:prstGeom prst="roundRect">
            <a:avLst>
              <a:gd name="adj" fmla="val 8050"/>
            </a:avLst>
          </a:prstGeom>
          <a:solidFill>
            <a:srgbClr val="FFFFFF"/>
          </a:solidFill>
          <a:ln w="6350">
            <a:solidFill>
              <a:srgbClr val="C7CFDD"/>
            </a:solidFill>
            <a:prstDash val="solid"/>
          </a:ln>
        </p:spPr>
      </p:sp>
      <p:sp>
        <p:nvSpPr>
          <p:cNvPr id="15" name="Text 13"/>
          <p:cNvSpPr/>
          <p:nvPr/>
        </p:nvSpPr>
        <p:spPr>
          <a:xfrm>
            <a:off x="6391729" y="3667125"/>
            <a:ext cx="4924062"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7C5"/>
                </a:solidFill>
                <a:latin typeface="Noto Sans JP" pitchFamily="34" charset="0"/>
                <a:ea typeface="Noto Sans JP" pitchFamily="34" charset="-122"/>
                <a:cs typeface="Noto Sans JP" pitchFamily="34" charset="-120"/>
              </a:rPr>
              <a:t>CASB（Cloud Access Security Broker）</a:t>
            </a:r>
            <a:endParaRPr lang="en-US" sz="1600" dirty="0"/>
          </a:p>
        </p:txBody>
      </p:sp>
      <p:sp>
        <p:nvSpPr>
          <p:cNvPr id="16" name="Text 14"/>
          <p:cNvSpPr/>
          <p:nvPr/>
        </p:nvSpPr>
        <p:spPr>
          <a:xfrm>
            <a:off x="6391729" y="3987130"/>
            <a:ext cx="492406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どこへの通信か：使われているクラウドサービスを見える化し、シャドー IT を見つける</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AEEF5"/>
        </a:solidFill>
      </p:bgPr>
    </p:bg>
    <p:spTree>
      <p:nvGrpSpPr>
        <p:cNvPr id="1" name=""/>
        <p:cNvGrpSpPr/>
        <p:nvPr/>
      </p:nvGrpSpPr>
      <p:grpSpPr>
        <a:xfrm>
          <a:off x="0" y="0"/>
          <a:ext cx="0" cy="0"/>
          <a:chOff x="0" y="0"/>
          <a:chExt cx="0" cy="0"/>
        </a:xfrm>
      </p:grpSpPr>
      <p:sp>
        <p:nvSpPr>
          <p:cNvPr id="2" name="Text 0"/>
          <p:cNvSpPr/>
          <p:nvPr/>
        </p:nvSpPr>
        <p:spPr>
          <a:xfrm>
            <a:off x="812800" y="812800"/>
            <a:ext cx="1079500" cy="307295"/>
          </a:xfrm>
          <a:custGeom>
            <a:avLst/>
            <a:gdLst/>
            <a:ahLst/>
            <a:cxnLst/>
            <a:rect l="l" t="t" r="r" b="b"/>
            <a:pathLst>
              <a:path w="1079500" h="307295">
                <a:moveTo>
                  <a:pt x="153647" y="0"/>
                </a:moveTo>
                <a:lnTo>
                  <a:pt x="925853" y="0"/>
                </a:lnTo>
                <a:arcTo hR="153647" wR="153647" stAng="16200000" swAng="5400000"/>
                <a:lnTo>
                  <a:pt x="1079500" y="153647"/>
                </a:lnTo>
                <a:arcTo hR="153647" wR="153647" stAng="0" swAng="5400000"/>
                <a:lnTo>
                  <a:pt x="153647" y="307295"/>
                </a:lnTo>
                <a:arcTo hR="153647" wR="153647" stAng="5400000" swAng="5400000"/>
                <a:lnTo>
                  <a:pt x="0" y="153647"/>
                </a:lnTo>
                <a:arcTo hR="153647" wR="153647" stAng="10800000" swAng="5400000"/>
                <a:close/>
              </a:path>
            </a:pathLst>
          </a:custGeom>
          <a:solidFill>
            <a:srgbClr val="F3D2B3"/>
          </a:solidFill>
          <a:ln/>
        </p:spPr>
        <p:txBody>
          <a:bodyPr wrap="none" lIns="0" tIns="0" rIns="0" bIns="0" rtlCol="0" anchor="ctr">
            <a:normAutofit/>
          </a:bodyPr>
          <a:lstStyle/>
          <a:p>
            <a:pPr algn="ctr" indent="0" marL="0">
              <a:lnSpc>
                <a:spcPts val="1820"/>
              </a:lnSpc>
              <a:buNone/>
            </a:pPr>
            <a:r>
              <a:rPr lang="en-US" sz="1300" b="1" dirty="0">
                <a:solidFill>
                  <a:srgbClr val="7A3A0B"/>
                </a:solidFill>
                <a:latin typeface="Noto Sans JP" pitchFamily="34" charset="0"/>
                <a:ea typeface="Noto Sans JP" pitchFamily="34" charset="-122"/>
                <a:cs typeface="Noto Sans JP" pitchFamily="34" charset="-120"/>
              </a:rPr>
              <a:t>オプション</a:t>
            </a:r>
            <a:endParaRPr lang="en-US" sz="1300" dirty="0"/>
          </a:p>
        </p:txBody>
      </p:sp>
      <p:sp>
        <p:nvSpPr>
          <p:cNvPr id="3" name="Text 1"/>
          <p:cNvSpPr/>
          <p:nvPr/>
        </p:nvSpPr>
        <p:spPr>
          <a:xfrm>
            <a:off x="2044700" y="842008"/>
            <a:ext cx="42672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57C5"/>
                </a:solidFill>
                <a:latin typeface="Noto Sans JP" pitchFamily="34" charset="0"/>
                <a:ea typeface="Noto Sans JP" pitchFamily="34" charset="-122"/>
                <a:cs typeface="Noto Sans JP" pitchFamily="34" charset="-120"/>
              </a:rPr>
              <a:t>補足</a:t>
            </a:r>
            <a:endParaRPr lang="en-US" sz="1400" dirty="0"/>
          </a:p>
        </p:txBody>
      </p:sp>
      <p:sp>
        <p:nvSpPr>
          <p:cNvPr id="4" name="Text 2"/>
          <p:cNvSpPr/>
          <p:nvPr>
            <p:ph type="title"/>
          </p:nvPr>
        </p:nvSpPr>
        <p:spPr>
          <a:xfrm>
            <a:off x="812800" y="1348705"/>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4213D"/>
                </a:solidFill>
                <a:latin typeface="Noto Sans JP" pitchFamily="34" charset="0"/>
                <a:ea typeface="Noto Sans JP" pitchFamily="34" charset="-122"/>
                <a:cs typeface="Noto Sans JP" pitchFamily="34" charset="-120"/>
              </a:rPr>
              <a:t>製品・始め方・課題</a:t>
            </a:r>
            <a:endParaRPr lang="en-US" sz="3000" dirty="0"/>
          </a:p>
        </p:txBody>
      </p:sp>
      <p:sp>
        <p:nvSpPr>
          <p:cNvPr id="5" name="Shape 3"/>
          <p:cNvSpPr/>
          <p:nvPr/>
        </p:nvSpPr>
        <p:spPr>
          <a:xfrm>
            <a:off x="815975" y="2056730"/>
            <a:ext cx="3397250" cy="2782151"/>
          </a:xfrm>
          <a:prstGeom prst="roundRect">
            <a:avLst>
              <a:gd name="adj" fmla="val 3538"/>
            </a:avLst>
          </a:prstGeom>
          <a:solidFill>
            <a:srgbClr val="FFFFFF"/>
          </a:solidFill>
          <a:ln w="6350">
            <a:solidFill>
              <a:srgbClr val="C7CFDD"/>
            </a:solidFill>
            <a:prstDash val="solid"/>
          </a:ln>
        </p:spPr>
      </p:sp>
      <p:sp>
        <p:nvSpPr>
          <p:cNvPr id="6" name="Text 4"/>
          <p:cNvSpPr/>
          <p:nvPr/>
        </p:nvSpPr>
        <p:spPr>
          <a:xfrm>
            <a:off x="1019629" y="2260377"/>
            <a:ext cx="3079641"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57C5"/>
                </a:solidFill>
                <a:latin typeface="Noto Sans JP" pitchFamily="34" charset="0"/>
                <a:ea typeface="Noto Sans JP" pitchFamily="34" charset="-122"/>
                <a:cs typeface="Noto Sans JP" pitchFamily="34" charset="-120"/>
              </a:rPr>
              <a:t>SASE / SSE</a:t>
            </a:r>
            <a:endParaRPr lang="en-US" sz="1700" dirty="0"/>
          </a:p>
        </p:txBody>
      </p:sp>
      <p:sp>
        <p:nvSpPr>
          <p:cNvPr id="7" name="Text 5"/>
          <p:cNvSpPr/>
          <p:nvPr/>
        </p:nvSpPr>
        <p:spPr>
          <a:xfrm>
            <a:off x="1019629" y="2621025"/>
            <a:ext cx="3079641" cy="45209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Secure Access Service Edge ／ Security Service Edge</a:t>
            </a:r>
            <a:endParaRPr lang="en-US" sz="1200" dirty="0"/>
          </a:p>
        </p:txBody>
      </p:sp>
      <p:sp>
        <p:nvSpPr>
          <p:cNvPr id="8" name="Text 6"/>
          <p:cNvSpPr/>
          <p:nvPr/>
        </p:nvSpPr>
        <p:spPr>
          <a:xfrm>
            <a:off x="1019629" y="3149327"/>
            <a:ext cx="3079641" cy="15113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C"/>
                </a:solidFill>
                <a:latin typeface="Noto Sans JP" pitchFamily="34" charset="0"/>
                <a:ea typeface="Noto Sans JP" pitchFamily="34" charset="-122"/>
                <a:cs typeface="Noto Sans JP" pitchFamily="34" charset="-120"/>
              </a:rPr>
              <a:t>SWG・CASB・ZTNA（Zero Trust Network Access、IAP の一般名）・クラウド型ファイアウォールなどを1つのクラウドサービスにまとめたもの。製品を選ぶときはこの名前で出てくることが多い</a:t>
            </a:r>
            <a:endParaRPr lang="en-US" sz="1300" dirty="0"/>
          </a:p>
        </p:txBody>
      </p:sp>
      <p:sp>
        <p:nvSpPr>
          <p:cNvPr id="9" name="Shape 7"/>
          <p:cNvSpPr/>
          <p:nvPr/>
        </p:nvSpPr>
        <p:spPr>
          <a:xfrm>
            <a:off x="4397375" y="2056730"/>
            <a:ext cx="3397250" cy="2782151"/>
          </a:xfrm>
          <a:prstGeom prst="roundRect">
            <a:avLst>
              <a:gd name="adj" fmla="val 3538"/>
            </a:avLst>
          </a:prstGeom>
          <a:solidFill>
            <a:srgbClr val="FFFFFF"/>
          </a:solidFill>
          <a:ln w="6350">
            <a:solidFill>
              <a:srgbClr val="C7CFDD"/>
            </a:solidFill>
            <a:prstDash val="solid"/>
          </a:ln>
        </p:spPr>
      </p:sp>
      <p:sp>
        <p:nvSpPr>
          <p:cNvPr id="10" name="Text 8"/>
          <p:cNvSpPr/>
          <p:nvPr/>
        </p:nvSpPr>
        <p:spPr>
          <a:xfrm>
            <a:off x="4601029" y="2260377"/>
            <a:ext cx="3079641"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57C5"/>
                </a:solidFill>
                <a:latin typeface="Noto Sans JP" pitchFamily="34" charset="0"/>
                <a:ea typeface="Noto Sans JP" pitchFamily="34" charset="-122"/>
                <a:cs typeface="Noto Sans JP" pitchFamily="34" charset="-120"/>
              </a:rPr>
              <a:t>どこから始めるか</a:t>
            </a:r>
            <a:endParaRPr lang="en-US" sz="1700" dirty="0"/>
          </a:p>
        </p:txBody>
      </p:sp>
      <p:sp>
        <p:nvSpPr>
          <p:cNvPr id="11" name="Text 9"/>
          <p:cNvSpPr/>
          <p:nvPr/>
        </p:nvSpPr>
        <p:spPr>
          <a:xfrm>
            <a:off x="4680461" y="2621025"/>
            <a:ext cx="2992590" cy="1081995"/>
          </a:xfrm>
          <a:prstGeom prst="rect">
            <a:avLst/>
          </a:prstGeom>
          <a:noFill/>
          <a:ln/>
        </p:spPr>
        <p:txBody>
          <a:bodyPr wrap="square" lIns="0" tIns="0" rIns="0" bIns="0" rtlCol="0" anchor="t">
            <a:normAutofit/>
          </a:bodyPr>
          <a:lstStyle/>
          <a:p>
            <a:pPr algn="l" marL="174568" indent="-174568">
              <a:lnSpc>
                <a:spcPts val="2080"/>
              </a:lnSpc>
              <a:buSzPct val="100000"/>
              <a:buFontTx/>
              <a:buAutoNum type="arabicPeriod" startAt="1"/>
            </a:pPr>
            <a:r>
              <a:rPr lang="en-US" sz="1300" dirty="0">
                <a:solidFill>
                  <a:srgbClr val="3D4A5C"/>
                </a:solidFill>
                <a:latin typeface="Noto Sans JP" pitchFamily="34" charset="0"/>
                <a:ea typeface="Noto Sans JP" pitchFamily="34" charset="-122"/>
                <a:cs typeface="Noto Sans JP" pitchFamily="34" charset="-120"/>
              </a:rPr>
              <a:t>IAM と多要素認証</a:t>
            </a:r>
            <a:endParaRPr lang="en-US" sz="1300" dirty="0"/>
          </a:p>
          <a:p>
            <a:pPr algn="l" marL="174568" indent="-174568">
              <a:lnSpc>
                <a:spcPts val="2080"/>
              </a:lnSpc>
              <a:buSzPct val="100000"/>
              <a:buFontTx/>
              <a:buAutoNum type="arabicPeriod" startAt="1"/>
            </a:pPr>
            <a:r>
              <a:rPr lang="en-US" sz="1300" dirty="0">
                <a:solidFill>
                  <a:srgbClr val="3D4A5C"/>
                </a:solidFill>
                <a:latin typeface="Noto Sans JP" pitchFamily="34" charset="0"/>
                <a:ea typeface="Noto Sans JP" pitchFamily="34" charset="-122"/>
                <a:cs typeface="Noto Sans JP" pitchFamily="34" charset="-120"/>
              </a:rPr>
              <a:t>端末の管理（MDM）</a:t>
            </a:r>
            <a:endParaRPr lang="en-US" sz="1300" dirty="0"/>
          </a:p>
          <a:p>
            <a:pPr algn="l" marL="174568" indent="-174568">
              <a:lnSpc>
                <a:spcPts val="2080"/>
              </a:lnSpc>
              <a:buSzPct val="100000"/>
              <a:buFontTx/>
              <a:buAutoNum type="arabicPeriod" startAt="1"/>
            </a:pPr>
            <a:r>
              <a:rPr lang="en-US" sz="1300" dirty="0">
                <a:solidFill>
                  <a:srgbClr val="3D4A5C"/>
                </a:solidFill>
                <a:latin typeface="Noto Sans JP" pitchFamily="34" charset="0"/>
                <a:ea typeface="Noto Sans JP" pitchFamily="34" charset="-122"/>
                <a:cs typeface="Noto Sans JP" pitchFamily="34" charset="-120"/>
              </a:rPr>
              <a:t>VPN を IAP に置き換える</a:t>
            </a:r>
            <a:endParaRPr lang="en-US" sz="1300" dirty="0"/>
          </a:p>
          <a:p>
            <a:pPr algn="l" marL="174568" indent="-174568">
              <a:lnSpc>
                <a:spcPts val="2080"/>
              </a:lnSpc>
              <a:buSzPct val="100000"/>
              <a:buFontTx/>
              <a:buAutoNum type="arabicPeriod" startAt="1"/>
            </a:pPr>
            <a:r>
              <a:rPr lang="en-US" sz="1300" dirty="0">
                <a:solidFill>
                  <a:srgbClr val="3D4A5C"/>
                </a:solidFill>
                <a:latin typeface="Noto Sans JP" pitchFamily="34" charset="0"/>
                <a:ea typeface="Noto Sans JP" pitchFamily="34" charset="-122"/>
                <a:cs typeface="Noto Sans JP" pitchFamily="34" charset="-120"/>
              </a:rPr>
              <a:t>ログの集約（SIEM）</a:t>
            </a:r>
            <a:endParaRPr lang="en-US" sz="1300" dirty="0"/>
          </a:p>
        </p:txBody>
      </p:sp>
      <p:sp>
        <p:nvSpPr>
          <p:cNvPr id="12" name="Shape 10"/>
          <p:cNvSpPr/>
          <p:nvPr/>
        </p:nvSpPr>
        <p:spPr>
          <a:xfrm>
            <a:off x="7978775" y="2056730"/>
            <a:ext cx="3397250" cy="2782151"/>
          </a:xfrm>
          <a:prstGeom prst="roundRect">
            <a:avLst>
              <a:gd name="adj" fmla="val 3538"/>
            </a:avLst>
          </a:prstGeom>
          <a:solidFill>
            <a:srgbClr val="FFFFFF"/>
          </a:solidFill>
          <a:ln w="6350">
            <a:solidFill>
              <a:srgbClr val="C7CFDD"/>
            </a:solidFill>
            <a:prstDash val="solid"/>
          </a:ln>
        </p:spPr>
      </p:sp>
      <p:sp>
        <p:nvSpPr>
          <p:cNvPr id="13" name="Text 11"/>
          <p:cNvSpPr/>
          <p:nvPr/>
        </p:nvSpPr>
        <p:spPr>
          <a:xfrm>
            <a:off x="8182429" y="2260377"/>
            <a:ext cx="3079641" cy="284446"/>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57C5"/>
                </a:solidFill>
                <a:latin typeface="Noto Sans JP" pitchFamily="34" charset="0"/>
                <a:ea typeface="Noto Sans JP" pitchFamily="34" charset="-122"/>
                <a:cs typeface="Noto Sans JP" pitchFamily="34" charset="-120"/>
              </a:rPr>
              <a:t>課題</a:t>
            </a:r>
            <a:endParaRPr lang="en-US" sz="1700" dirty="0"/>
          </a:p>
        </p:txBody>
      </p:sp>
      <p:sp>
        <p:nvSpPr>
          <p:cNvPr id="14" name="Text 12"/>
          <p:cNvSpPr/>
          <p:nvPr/>
        </p:nvSpPr>
        <p:spPr>
          <a:xfrm>
            <a:off x="8255073" y="2621025"/>
            <a:ext cx="2999377" cy="1081995"/>
          </a:xfrm>
          <a:prstGeom prst="rect">
            <a:avLst/>
          </a:prstGeom>
          <a:noFill/>
          <a:ln/>
        </p:spPr>
        <p:txBody>
          <a:bodyPr wrap="square" lIns="0" tIns="0" rIns="0" bIns="0" rtlCol="0" anchor="t">
            <a:normAutofit/>
          </a:bodyPr>
          <a:lstStyle/>
          <a:p>
            <a:pPr algn="l" marL="181356" indent="-181356">
              <a:lnSpc>
                <a:spcPts val="2080"/>
              </a:lnSpc>
              <a:buSzPct val="100000"/>
              <a:buChar char="•"/>
            </a:pPr>
            <a:r>
              <a:rPr lang="en-US" sz="1300" dirty="0">
                <a:solidFill>
                  <a:srgbClr val="3D4A5C"/>
                </a:solidFill>
                <a:latin typeface="Noto Sans JP" pitchFamily="34" charset="0"/>
                <a:ea typeface="Noto Sans JP" pitchFamily="34" charset="-122"/>
                <a:cs typeface="Noto Sans JP" pitchFamily="34" charset="-120"/>
              </a:rPr>
              <a:t>導入と運用の費用</a:t>
            </a:r>
            <a:endParaRPr lang="en-US" sz="1300" dirty="0"/>
          </a:p>
          <a:p>
            <a:pPr algn="l" marL="181356" indent="-181356">
              <a:lnSpc>
                <a:spcPts val="2080"/>
              </a:lnSpc>
              <a:buSzPct val="100000"/>
              <a:buChar char="•"/>
            </a:pPr>
            <a:r>
              <a:rPr lang="en-US" sz="1300" dirty="0">
                <a:solidFill>
                  <a:srgbClr val="3D4A5C"/>
                </a:solidFill>
                <a:latin typeface="Noto Sans JP" pitchFamily="34" charset="0"/>
                <a:ea typeface="Noto Sans JP" pitchFamily="34" charset="-122"/>
                <a:cs typeface="Noto Sans JP" pitchFamily="34" charset="-120"/>
              </a:rPr>
              <a:t>確認が増えて使いにくくなる</a:t>
            </a:r>
            <a:endParaRPr lang="en-US" sz="1300" dirty="0"/>
          </a:p>
          <a:p>
            <a:pPr algn="l" marL="181356" indent="-181356">
              <a:lnSpc>
                <a:spcPts val="2080"/>
              </a:lnSpc>
              <a:buSzPct val="100000"/>
              <a:buChar char="•"/>
            </a:pPr>
            <a:r>
              <a:rPr lang="en-US" sz="1300" dirty="0">
                <a:solidFill>
                  <a:srgbClr val="3D4A5C"/>
                </a:solidFill>
                <a:latin typeface="Noto Sans JP" pitchFamily="34" charset="0"/>
                <a:ea typeface="Noto Sans JP" pitchFamily="34" charset="-122"/>
                <a:cs typeface="Noto Sans JP" pitchFamily="34" charset="-120"/>
              </a:rPr>
              <a:t>ログが大量になる</a:t>
            </a:r>
            <a:endParaRPr lang="en-US" sz="1300" dirty="0"/>
          </a:p>
          <a:p>
            <a:pPr algn="l" marL="181356" indent="-181356">
              <a:lnSpc>
                <a:spcPts val="2080"/>
              </a:lnSpc>
              <a:buSzPct val="100000"/>
              <a:buChar char="•"/>
            </a:pPr>
            <a:r>
              <a:rPr lang="en-US" sz="1300" dirty="0">
                <a:solidFill>
                  <a:srgbClr val="3D4A5C"/>
                </a:solidFill>
                <a:latin typeface="Noto Sans JP" pitchFamily="34" charset="0"/>
                <a:ea typeface="Noto Sans JP" pitchFamily="34" charset="-122"/>
                <a:cs typeface="Noto Sans JP" pitchFamily="34" charset="-120"/>
              </a:rPr>
              <a:t>特定ベンダーへの依存</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B4FF"/>
                </a:solidFill>
                <a:latin typeface="Noto Sans JP" pitchFamily="34" charset="0"/>
                <a:ea typeface="Noto Sans JP" pitchFamily="34" charset="-122"/>
                <a:cs typeface="Noto Sans JP" pitchFamily="34" charset="-120"/>
              </a:rPr>
              <a:t>まとめ</a:t>
            </a:r>
            <a:endParaRPr lang="en-US" sz="1400" dirty="0"/>
          </a:p>
        </p:txBody>
      </p:sp>
      <p:sp>
        <p:nvSpPr>
          <p:cNvPr id="3" name="Text 1"/>
          <p:cNvSpPr/>
          <p:nvPr>
            <p:ph type="title"/>
          </p:nvPr>
        </p:nvSpPr>
        <p:spPr>
          <a:xfrm>
            <a:off x="812800" y="1315703"/>
            <a:ext cx="10883393"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F7F6F2"/>
                </a:solidFill>
                <a:latin typeface="Noto Sans JP" pitchFamily="34" charset="0"/>
                <a:ea typeface="Noto Sans JP" pitchFamily="34" charset="-122"/>
                <a:cs typeface="Noto Sans JP" pitchFamily="34" charset="-120"/>
              </a:rPr>
              <a:t>「社内だから信頼する」から「毎回確かめる」へ</a:t>
            </a:r>
            <a:endParaRPr lang="en-US" sz="3000" dirty="0"/>
          </a:p>
        </p:txBody>
      </p:sp>
      <p:sp>
        <p:nvSpPr>
          <p:cNvPr id="4" name="Text 2"/>
          <p:cNvSpPr/>
          <p:nvPr/>
        </p:nvSpPr>
        <p:spPr>
          <a:xfrm>
            <a:off x="844296" y="2045953"/>
            <a:ext cx="10844277" cy="1860380"/>
          </a:xfrm>
          <a:prstGeom prst="rect">
            <a:avLst/>
          </a:prstGeom>
          <a:noFill/>
          <a:ln/>
        </p:spPr>
        <p:txBody>
          <a:bodyPr wrap="square" lIns="0" tIns="0" rIns="0" bIns="0" rtlCol="0" anchor="t">
            <a:normAutofit/>
          </a:bodyPr>
          <a:lstStyle/>
          <a:p>
            <a:pPr algn="l" marL="222504" indent="-222504">
              <a:lnSpc>
                <a:spcPts val="2890"/>
              </a:lnSpc>
              <a:buSzPct val="100000"/>
              <a:buChar char="•"/>
            </a:pPr>
            <a:r>
              <a:rPr lang="en-US" sz="1700" dirty="0">
                <a:solidFill>
                  <a:srgbClr val="DCE3F0"/>
                </a:solidFill>
                <a:latin typeface="Noto Sans JP" pitchFamily="34" charset="0"/>
                <a:ea typeface="Noto Sans JP" pitchFamily="34" charset="-122"/>
                <a:cs typeface="Noto Sans JP" pitchFamily="34" charset="-120"/>
              </a:rPr>
              <a:t>境界型の「内側を信頼する」前提は、働き方とクラウドの変化で崩れた</a:t>
            </a:r>
            <a:endParaRPr lang="en-US" sz="1700" dirty="0"/>
          </a:p>
          <a:p>
            <a:pPr algn="l" marL="222504" indent="-222504">
              <a:lnSpc>
                <a:spcPts val="2890"/>
              </a:lnSpc>
              <a:buSzPct val="100000"/>
              <a:buChar char="•"/>
            </a:pPr>
            <a:r>
              <a:rPr lang="en-US" sz="1700" dirty="0">
                <a:solidFill>
                  <a:srgbClr val="DCE3F0"/>
                </a:solidFill>
                <a:latin typeface="Noto Sans JP" pitchFamily="34" charset="0"/>
                <a:ea typeface="Noto Sans JP" pitchFamily="34" charset="-122"/>
                <a:cs typeface="Noto Sans JP" pitchFamily="34" charset="-120"/>
              </a:rPr>
              <a:t>ゼロトラストは製品ではなく、「毎回確かめる・常に見張る・改善し続ける」という方向性</a:t>
            </a:r>
            <a:endParaRPr lang="en-US" sz="1700" dirty="0"/>
          </a:p>
          <a:p>
            <a:pPr algn="l" marL="222504" indent="-222504">
              <a:lnSpc>
                <a:spcPts val="2890"/>
              </a:lnSpc>
              <a:buSzPct val="100000"/>
              <a:buChar char="•"/>
            </a:pPr>
            <a:r>
              <a:rPr lang="en-US" sz="1700" dirty="0">
                <a:solidFill>
                  <a:srgbClr val="DCE3F0"/>
                </a:solidFill>
                <a:latin typeface="Noto Sans JP" pitchFamily="34" charset="0"/>
                <a:ea typeface="Noto Sans JP" pitchFamily="34" charset="-122"/>
                <a:cs typeface="Noto Sans JP" pitchFamily="34" charset="-120"/>
              </a:rPr>
              <a:t>誰か（IAM）、どの端末か（MDM・TPM）、どこへの通信か（IAP・SWG）、何のデータか（DLP）を確かめ、SIEM / SOAR で見張る</a:t>
            </a:r>
            <a:endParaRPr lang="en-US" sz="1700" dirty="0"/>
          </a:p>
          <a:p>
            <a:pPr algn="l" marL="222504" indent="-222504">
              <a:lnSpc>
                <a:spcPts val="2890"/>
              </a:lnSpc>
              <a:buSzPct val="100000"/>
              <a:buChar char="•"/>
            </a:pPr>
            <a:r>
              <a:rPr lang="en-US" sz="1700" dirty="0">
                <a:solidFill>
                  <a:srgbClr val="DCE3F0"/>
                </a:solidFill>
                <a:latin typeface="Noto Sans JP" pitchFamily="34" charset="0"/>
                <a:ea typeface="Noto Sans JP" pitchFamily="34" charset="-122"/>
                <a:cs typeface="Noto Sans JP" pitchFamily="34" charset="-120"/>
              </a:rPr>
              <a:t>一度に全部ではなく、少しずつ近づけていくもの</a:t>
            </a:r>
            <a:endParaRPr lang="en-US" sz="1700" dirty="0"/>
          </a:p>
        </p:txBody>
      </p:sp>
    </p:spTree>
  </p:cSld>
  <p:clrMapOvr>
    <a:masterClrMapping/>
  </p:clrMapOvr>
</p:sld>
</file>

<file path=ppt/theme/theme1.xml><?xml version="1.0" encoding="utf-8"?>
<a:theme xmlns:a="http://schemas.openxmlformats.org/drawingml/2006/main" name="ゼロトラストセキュリティ入門">
  <a:themeElements>
    <a:clrScheme name="ゼロトラストセキュリティ入門">
      <a:dk1>
        <a:srgbClr val="14213D"/>
      </a:dk1>
      <a:lt1>
        <a:srgbClr val="F7F6F2"/>
      </a:lt1>
      <a:dk2>
        <a:srgbClr val="4D566A"/>
      </a:dk2>
      <a:lt2>
        <a:srgbClr val="E0E1E0"/>
      </a:lt2>
      <a:accent1>
        <a:srgbClr val="2457C5"/>
      </a:accent1>
      <a:accent2>
        <a:srgbClr val="1D4AA8"/>
      </a:accent2>
      <a:accent3>
        <a:srgbClr val="F3D2B3"/>
      </a:accent3>
      <a:accent4>
        <a:srgbClr val="7A3A0B"/>
      </a:accent4>
      <a:accent5>
        <a:srgbClr val="8FB4FF"/>
      </a:accent5>
      <a:accent6>
        <a:srgbClr val="6B4A12"/>
      </a:accent6>
      <a:hlink>
        <a:srgbClr val="0563C1"/>
      </a:hlink>
      <a:folHlink>
        <a:srgbClr val="954F72"/>
      </a:folHlink>
    </a:clrScheme>
    <a:fontScheme name="ゼロトラストセキュリティ入門">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ゼロトラストセキュリティ入門</dc:title>
  <dc:subject/>
  <dc:creator/>
  <cp:lastModifiedBy/>
  <cp:revision>1</cp:revision>
  <dcterms:created xsi:type="dcterms:W3CDTF">2026-10-25T14:47:12Z</dcterms:created>
  <dcterms:modified xsi:type="dcterms:W3CDTF">2026-10-25T14:47:12Z</dcterms:modified>
</cp:coreProperties>
</file>